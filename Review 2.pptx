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8"/>
  </p:notesMasterIdLst>
  <p:sldIdLst>
    <p:sldId id="256" r:id="rId2"/>
    <p:sldId id="257" r:id="rId3"/>
    <p:sldId id="258" r:id="rId4"/>
    <p:sldId id="274" r:id="rId5"/>
    <p:sldId id="275" r:id="rId6"/>
    <p:sldId id="259" r:id="rId7"/>
    <p:sldId id="260" r:id="rId8"/>
    <p:sldId id="276" r:id="rId9"/>
    <p:sldId id="277" r:id="rId10"/>
    <p:sldId id="261" r:id="rId11"/>
    <p:sldId id="278" r:id="rId12"/>
    <p:sldId id="262" r:id="rId13"/>
    <p:sldId id="279" r:id="rId14"/>
    <p:sldId id="282" r:id="rId15"/>
    <p:sldId id="263" r:id="rId16"/>
    <p:sldId id="264" r:id="rId17"/>
    <p:sldId id="265" r:id="rId18"/>
    <p:sldId id="267" r:id="rId19"/>
    <p:sldId id="280" r:id="rId20"/>
    <p:sldId id="268" r:id="rId21"/>
    <p:sldId id="269" r:id="rId22"/>
    <p:sldId id="270" r:id="rId23"/>
    <p:sldId id="281" r:id="rId24"/>
    <p:sldId id="271" r:id="rId25"/>
    <p:sldId id="272" r:id="rId26"/>
    <p:sldId id="273" r:id="rId27"/>
  </p:sldIdLst>
  <p:sldSz cx="9144000" cy="5143500" type="screen16x9"/>
  <p:notesSz cx="6797675" cy="9926638"/>
  <p:defaultTextStyle>
    <a:defPPr lvl="0">
      <a:defRPr lang="en-US"/>
    </a:defPPr>
    <a:lvl1pPr lvl="0" algn="l" rtl="0" eaLnBrk="0" fontAlgn="base" hangingPunct="0">
      <a:spcBef>
        <a:spcPct val="0"/>
      </a:spcBef>
      <a:spcAft>
        <a:spcPct val="0"/>
      </a:spcAft>
      <a:defRPr kern="1200">
        <a:solidFill>
          <a:schemeClr val="tx1"/>
        </a:solidFill>
        <a:latin typeface="Arial" charset="0"/>
        <a:ea typeface="+mn-ea"/>
        <a:cs typeface="Arial" charset="0"/>
      </a:defRPr>
    </a:lvl1pPr>
    <a:lvl2pPr marL="457200" lvl="1" algn="l" rtl="0" eaLnBrk="0" fontAlgn="base" hangingPunct="0">
      <a:spcBef>
        <a:spcPct val="0"/>
      </a:spcBef>
      <a:spcAft>
        <a:spcPct val="0"/>
      </a:spcAft>
      <a:defRPr kern="1200">
        <a:solidFill>
          <a:schemeClr val="tx1"/>
        </a:solidFill>
        <a:latin typeface="Arial" charset="0"/>
        <a:ea typeface="+mn-ea"/>
        <a:cs typeface="Arial" charset="0"/>
      </a:defRPr>
    </a:lvl2pPr>
    <a:lvl3pPr marL="914400" lvl="2" algn="l" rtl="0" eaLnBrk="0" fontAlgn="base" hangingPunct="0">
      <a:spcBef>
        <a:spcPct val="0"/>
      </a:spcBef>
      <a:spcAft>
        <a:spcPct val="0"/>
      </a:spcAft>
      <a:defRPr kern="1200">
        <a:solidFill>
          <a:schemeClr val="tx1"/>
        </a:solidFill>
        <a:latin typeface="Arial" charset="0"/>
        <a:ea typeface="+mn-ea"/>
        <a:cs typeface="Arial" charset="0"/>
      </a:defRPr>
    </a:lvl3pPr>
    <a:lvl4pPr marL="1371600" lvl="3" algn="l" rtl="0" eaLnBrk="0" fontAlgn="base" hangingPunct="0">
      <a:spcBef>
        <a:spcPct val="0"/>
      </a:spcBef>
      <a:spcAft>
        <a:spcPct val="0"/>
      </a:spcAft>
      <a:defRPr kern="1200">
        <a:solidFill>
          <a:schemeClr val="tx1"/>
        </a:solidFill>
        <a:latin typeface="Arial" charset="0"/>
        <a:ea typeface="+mn-ea"/>
        <a:cs typeface="Arial" charset="0"/>
      </a:defRPr>
    </a:lvl4pPr>
    <a:lvl5pPr marL="1828800" lvl="4" algn="l" rtl="0" eaLnBrk="0" fontAlgn="base" hangingPunct="0">
      <a:spcBef>
        <a:spcPct val="0"/>
      </a:spcBef>
      <a:spcAft>
        <a:spcPct val="0"/>
      </a:spcAft>
      <a:defRPr kern="1200">
        <a:solidFill>
          <a:schemeClr val="tx1"/>
        </a:solidFill>
        <a:latin typeface="Arial" charset="0"/>
        <a:ea typeface="+mn-ea"/>
        <a:cs typeface="Arial" charset="0"/>
      </a:defRPr>
    </a:lvl5pPr>
    <a:lvl6pPr marL="2286000" lvl="5" algn="l" defTabSz="914400" rtl="0" eaLnBrk="1" latinLnBrk="0" hangingPunct="1">
      <a:defRPr kern="1200">
        <a:solidFill>
          <a:schemeClr val="tx1"/>
        </a:solidFill>
        <a:latin typeface="Arial" charset="0"/>
        <a:ea typeface="+mn-ea"/>
        <a:cs typeface="Arial" charset="0"/>
      </a:defRPr>
    </a:lvl6pPr>
    <a:lvl7pPr marL="2743200" lvl="6" algn="l" defTabSz="914400" rtl="0" eaLnBrk="1" latinLnBrk="0" hangingPunct="1">
      <a:defRPr kern="1200">
        <a:solidFill>
          <a:schemeClr val="tx1"/>
        </a:solidFill>
        <a:latin typeface="Arial" charset="0"/>
        <a:ea typeface="+mn-ea"/>
        <a:cs typeface="Arial" charset="0"/>
      </a:defRPr>
    </a:lvl7pPr>
    <a:lvl8pPr marL="3200400" lvl="7" algn="l" defTabSz="914400" rtl="0" eaLnBrk="1" latinLnBrk="0" hangingPunct="1">
      <a:defRPr kern="1200">
        <a:solidFill>
          <a:schemeClr val="tx1"/>
        </a:solidFill>
        <a:latin typeface="Arial" charset="0"/>
        <a:ea typeface="+mn-ea"/>
        <a:cs typeface="Arial" charset="0"/>
      </a:defRPr>
    </a:lvl8pPr>
    <a:lvl9pPr marL="3657600" lvl="8"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8F64A9-4257-43D2-B557-367A03760C50}" v="7" dt="2025-10-25T09:27:54.5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yani Reddy" userId="51c9130cda04b76f" providerId="LiveId" clId="{FC88C9EE-B5AC-47A7-AD0E-D9396256553F}"/>
    <pc:docChg chg="undo custSel modSld">
      <pc:chgData name="Gayani Reddy" userId="51c9130cda04b76f" providerId="LiveId" clId="{FC88C9EE-B5AC-47A7-AD0E-D9396256553F}" dt="2025-11-08T04:10:17.385" v="191" actId="20577"/>
      <pc:docMkLst>
        <pc:docMk/>
      </pc:docMkLst>
      <pc:sldChg chg="modSp mod">
        <pc:chgData name="Gayani Reddy" userId="51c9130cda04b76f" providerId="LiveId" clId="{FC88C9EE-B5AC-47A7-AD0E-D9396256553F}" dt="2025-11-08T04:10:17.385" v="191" actId="20577"/>
        <pc:sldMkLst>
          <pc:docMk/>
          <pc:sldMk cId="0" sldId="256"/>
        </pc:sldMkLst>
        <pc:spChg chg="mod">
          <ac:chgData name="Gayani Reddy" userId="51c9130cda04b76f" providerId="LiveId" clId="{FC88C9EE-B5AC-47A7-AD0E-D9396256553F}" dt="2025-10-25T09:17:01.137" v="0" actId="14100"/>
          <ac:spMkLst>
            <pc:docMk/>
            <pc:sldMk cId="0" sldId="256"/>
            <ac:spMk id="4" creationId="{00000000-0000-0000-0000-000000000000}"/>
          </ac:spMkLst>
        </pc:spChg>
        <pc:spChg chg="mod">
          <ac:chgData name="Gayani Reddy" userId="51c9130cda04b76f" providerId="LiveId" clId="{FC88C9EE-B5AC-47A7-AD0E-D9396256553F}" dt="2025-11-08T04:10:17.385" v="191" actId="20577"/>
          <ac:spMkLst>
            <pc:docMk/>
            <pc:sldMk cId="0" sldId="256"/>
            <ac:spMk id="5" creationId="{00000000-0000-0000-0000-000000000000}"/>
          </ac:spMkLst>
        </pc:spChg>
      </pc:sldChg>
      <pc:sldChg chg="addSp delSp modSp mod">
        <pc:chgData name="Gayani Reddy" userId="51c9130cda04b76f" providerId="LiveId" clId="{FC88C9EE-B5AC-47A7-AD0E-D9396256553F}" dt="2025-10-25T09:27:54.546" v="187"/>
        <pc:sldMkLst>
          <pc:docMk/>
          <pc:sldMk cId="0" sldId="257"/>
        </pc:sldMkLst>
        <pc:spChg chg="add mod">
          <ac:chgData name="Gayani Reddy" userId="51c9130cda04b76f" providerId="LiveId" clId="{FC88C9EE-B5AC-47A7-AD0E-D9396256553F}" dt="2025-10-25T09:27:54.546" v="187"/>
          <ac:spMkLst>
            <pc:docMk/>
            <pc:sldMk cId="0" sldId="257"/>
            <ac:spMk id="15" creationId="{D1CB3605-F56B-7701-9A0E-2D9291F8905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3" name="Date Placeholder 2"/>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extLst/>
          </a:lstStyle>
          <a:p>
            <a:pPr>
              <a:defRPr/>
            </a:pPr>
            <a:fld id="{061F6FC2-9645-479A-A309-27B8F5654211}" type="datetimeFigureOut">
              <a:rPr lang="en-US"/>
              <a:pPr>
                <a:defRPr/>
              </a:pPr>
              <a:t>11/8/2025</a:t>
            </a:fld>
            <a:endParaRPr lang="en-US" dirty="0"/>
          </a:p>
        </p:txBody>
      </p:sp>
      <p:sp>
        <p:nvSpPr>
          <p:cNvPr id="4" name="Slide Image Placeholder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en-US" noProof="0" dirty="0"/>
          </a:p>
        </p:txBody>
      </p:sp>
      <p:sp>
        <p:nvSpPr>
          <p:cNvPr id="5" name="Notes Placeholder 4"/>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7" name="Slide Number Placeholder 6"/>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F2D8CC3F-ADB2-4AF7-880C-111F7E6C7FE6}" type="slidenum">
              <a:rPr lang="en-US" altLang="en-US"/>
              <a:pPr>
                <a:defRPr/>
              </a:pPr>
              <a:t>‹#›</a:t>
            </a:fld>
            <a:endParaRPr lang="en-US" altLang="en-US"/>
          </a:p>
        </p:txBody>
      </p:sp>
    </p:spTree>
    <p:extLst>
      <p:ext uri="{BB962C8B-B14F-4D97-AF65-F5344CB8AC3E}">
        <p14:creationId xmlns:p14="http://schemas.microsoft.com/office/powerpoint/2010/main" val="2248374232"/>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Rot="1" noChangeAspect="1" noTextEdit="1"/>
          </p:cNvSpPr>
          <p:nvPr>
            <p:ph type="sldImg"/>
          </p:nvPr>
        </p:nvSpPr>
        <p:spPr bwMode="auto">
          <a:noFill/>
          <a:ln>
            <a:solidFill>
              <a:srgbClr val="000000"/>
            </a:solidFill>
            <a:miter lim="800000"/>
            <a:headEnd/>
            <a:tailEnd/>
          </a:ln>
        </p:spPr>
      </p:sp>
      <p:sp>
        <p:nvSpPr>
          <p:cNvPr id="25603" name="Rectangle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25604" name="Rectangle 3"/>
          <p:cNvSpPr>
            <a:spLocks noGrp="1" noChangeArrowheads="1"/>
          </p:cNvSpPr>
          <p:nvPr>
            <p:ph type="sldNum" sz="quarter" idx="5"/>
          </p:nvPr>
        </p:nvSpPr>
        <p:spPr bwMode="auto">
          <a:noFill/>
          <a:ln>
            <a:miter lim="800000"/>
            <a:headEnd/>
            <a:tailEnd/>
          </a:ln>
        </p:spPr>
        <p:txBody>
          <a:bodyPr/>
          <a:lstStyle/>
          <a:p>
            <a:fld id="{27CB6598-6B20-4959-AEAD-7269146248E2}" type="slidenum">
              <a:rPr lang="en-US" altLang="en-US"/>
              <a:pPr/>
              <a:t>2</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endParaRPr lang="en-IN"/>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pPr>
              <a:defRPr/>
            </a:pPr>
            <a:fld id="{96A0B9A4-208B-4E16-B555-2A51F0BFB952}" type="datetime3">
              <a:rPr lang="en-US" smtClean="0"/>
              <a:t>8 November 2025</a:t>
            </a:fld>
            <a:endParaRPr lang="en-US" dirty="0"/>
          </a:p>
        </p:txBody>
      </p:sp>
      <p:sp>
        <p:nvSpPr>
          <p:cNvPr id="5" name="Footer Placeholder 4"/>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C0A8E10E-36D1-42AB-939C-34BEB33CD9E4}" type="slidenum">
              <a:rPr lang="en-US" altLang="en-US" smtClean="0"/>
              <a:pPr>
                <a:defRPr/>
              </a:pPr>
              <a:t>‹#›</a:t>
            </a:fld>
            <a:endParaRPr lang="en-US" altLang="en-US"/>
          </a:p>
        </p:txBody>
      </p:sp>
    </p:spTree>
    <p:extLst>
      <p:ext uri="{BB962C8B-B14F-4D97-AF65-F5344CB8AC3E}">
        <p14:creationId xmlns:p14="http://schemas.microsoft.com/office/powerpoint/2010/main" val="3279319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a:defRPr/>
            </a:pPr>
            <a:fld id="{BB9E9B86-2CF4-48B1-B6D7-BAFE5AD3290E}" type="datetime3">
              <a:rPr lang="en-US" smtClean="0"/>
              <a:t>8 November 2025</a:t>
            </a:fld>
            <a:endParaRPr lang="en-US" dirty="0"/>
          </a:p>
        </p:txBody>
      </p:sp>
      <p:sp>
        <p:nvSpPr>
          <p:cNvPr id="5" name="Footer Placeholder 4"/>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pPr>
                <a:defRPr/>
              </a:pPr>
              <a:t>‹#›</a:t>
            </a:fld>
            <a:endParaRPr lang="en-US" altLang="en-US"/>
          </a:p>
        </p:txBody>
      </p:sp>
    </p:spTree>
    <p:extLst>
      <p:ext uri="{BB962C8B-B14F-4D97-AF65-F5344CB8AC3E}">
        <p14:creationId xmlns:p14="http://schemas.microsoft.com/office/powerpoint/2010/main" val="147426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4E39A8A3-5E40-4D37-96BF-4D03983E50A4}" type="datetime3">
              <a:rPr lang="en-US" smtClean="0"/>
              <a:t>8 November 2025</a:t>
            </a:fld>
            <a:endParaRPr lang="en-US" dirty="0"/>
          </a:p>
        </p:txBody>
      </p:sp>
      <p:sp>
        <p:nvSpPr>
          <p:cNvPr id="5" name="Footer Placeholder 4"/>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BEE0AD74-942B-45F6-8EEE-203197083F56}" type="slidenum">
              <a:rPr lang="en-US" altLang="en-US" smtClean="0"/>
              <a:pPr>
                <a:defRPr/>
              </a:pPr>
              <a:t>‹#›</a:t>
            </a:fld>
            <a:endParaRPr lang="en-US" altLang="en-US"/>
          </a:p>
        </p:txBody>
      </p:sp>
    </p:spTree>
    <p:extLst>
      <p:ext uri="{BB962C8B-B14F-4D97-AF65-F5344CB8AC3E}">
        <p14:creationId xmlns:p14="http://schemas.microsoft.com/office/powerpoint/2010/main" val="1977922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900115"/>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900115"/>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pPr>
              <a:defRPr/>
            </a:pPr>
            <a:fld id="{ECD3C294-6E8C-44B4-98BA-B71F441E11DA}" type="datetime3">
              <a:rPr lang="en-US" smtClean="0"/>
              <a:t>8 November 2025</a:t>
            </a:fld>
            <a:endParaRPr lang="en-US" dirty="0"/>
          </a:p>
        </p:txBody>
      </p:sp>
      <p:sp>
        <p:nvSpPr>
          <p:cNvPr id="6" name="Footer Placeholder 5"/>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7" name="Slide Number Placeholder 6"/>
          <p:cNvSpPr>
            <a:spLocks noGrp="1"/>
          </p:cNvSpPr>
          <p:nvPr>
            <p:ph type="sldNum" sz="quarter" idx="12"/>
          </p:nvPr>
        </p:nvSpPr>
        <p:spPr/>
        <p:txBody>
          <a:bodyPr/>
          <a:lstStyle/>
          <a:p>
            <a:pPr>
              <a:defRPr/>
            </a:pPr>
            <a:fld id="{DB554FDC-F986-4516-81A3-5CBC9634E9C1}" type="slidenum">
              <a:rPr lang="en-US" altLang="en-US" smtClean="0"/>
              <a:pPr>
                <a:defRPr/>
              </a:pPr>
              <a:t>‹#›</a:t>
            </a:fld>
            <a:endParaRPr lang="en-US" altLang="en-US"/>
          </a:p>
        </p:txBody>
      </p:sp>
    </p:spTree>
    <p:extLst>
      <p:ext uri="{BB962C8B-B14F-4D97-AF65-F5344CB8AC3E}">
        <p14:creationId xmlns:p14="http://schemas.microsoft.com/office/powerpoint/2010/main" val="3397445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32"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2"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pPr>
              <a:defRPr/>
            </a:pPr>
            <a:fld id="{D35EB36B-7579-4E22-A75C-1F345D5742FF}" type="datetime3">
              <a:rPr lang="en-US" smtClean="0"/>
              <a:t>8 November 2025</a:t>
            </a:fld>
            <a:endParaRPr lang="en-US" dirty="0"/>
          </a:p>
        </p:txBody>
      </p:sp>
      <p:sp>
        <p:nvSpPr>
          <p:cNvPr id="8" name="Footer Placeholder 7"/>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9" name="Slide Number Placeholder 8"/>
          <p:cNvSpPr>
            <a:spLocks noGrp="1"/>
          </p:cNvSpPr>
          <p:nvPr>
            <p:ph type="sldNum" sz="quarter" idx="12"/>
          </p:nvPr>
        </p:nvSpPr>
        <p:spPr/>
        <p:txBody>
          <a:bodyPr/>
          <a:lstStyle/>
          <a:p>
            <a:pPr>
              <a:defRPr/>
            </a:pPr>
            <a:fld id="{02A63921-D0A8-45BD-ADF0-24CC5F135FEC}" type="slidenum">
              <a:rPr lang="en-US" altLang="en-US" smtClean="0"/>
              <a:pPr>
                <a:defRPr/>
              </a:pPr>
              <a:t>‹#›</a:t>
            </a:fld>
            <a:endParaRPr lang="en-US" altLang="en-US"/>
          </a:p>
        </p:txBody>
      </p:sp>
    </p:spTree>
    <p:extLst>
      <p:ext uri="{BB962C8B-B14F-4D97-AF65-F5344CB8AC3E}">
        <p14:creationId xmlns:p14="http://schemas.microsoft.com/office/powerpoint/2010/main" val="182012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pPr>
              <a:defRPr/>
            </a:pPr>
            <a:fld id="{719CF55F-6193-48A8-A7F6-3FEF82D24804}" type="datetime3">
              <a:rPr lang="en-US" smtClean="0"/>
              <a:t>8 November 2025</a:t>
            </a:fld>
            <a:endParaRPr lang="en-US" dirty="0"/>
          </a:p>
        </p:txBody>
      </p:sp>
      <p:sp>
        <p:nvSpPr>
          <p:cNvPr id="4" name="Footer Placeholder 3"/>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5" name="Slide Number Placeholder 4"/>
          <p:cNvSpPr>
            <a:spLocks noGrp="1"/>
          </p:cNvSpPr>
          <p:nvPr>
            <p:ph type="sldNum" sz="quarter" idx="12"/>
          </p:nvPr>
        </p:nvSpPr>
        <p:spPr/>
        <p:txBody>
          <a:bodyPr/>
          <a:lstStyle/>
          <a:p>
            <a:pPr>
              <a:defRPr/>
            </a:pPr>
            <a:fld id="{4CE540F1-D866-4735-9E65-A1952EADD02D}" type="slidenum">
              <a:rPr lang="en-US" altLang="en-US" smtClean="0"/>
              <a:pPr>
                <a:defRPr/>
              </a:pPr>
              <a:t>‹#›</a:t>
            </a:fld>
            <a:endParaRPr lang="en-US" altLang="en-US"/>
          </a:p>
        </p:txBody>
      </p:sp>
    </p:spTree>
    <p:extLst>
      <p:ext uri="{BB962C8B-B14F-4D97-AF65-F5344CB8AC3E}">
        <p14:creationId xmlns:p14="http://schemas.microsoft.com/office/powerpoint/2010/main" val="3459019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2401020D-54A8-4FFB-A1CA-FD4B919658D9}" type="datetime3">
              <a:rPr lang="en-US" smtClean="0"/>
              <a:t>8 November 2025</a:t>
            </a:fld>
            <a:endParaRPr lang="en-US" dirty="0"/>
          </a:p>
        </p:txBody>
      </p:sp>
      <p:sp>
        <p:nvSpPr>
          <p:cNvPr id="3" name="Footer Placeholder 2"/>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4" name="Slide Number Placeholder 3"/>
          <p:cNvSpPr>
            <a:spLocks noGrp="1"/>
          </p:cNvSpPr>
          <p:nvPr>
            <p:ph type="sldNum" sz="quarter" idx="12"/>
          </p:nvPr>
        </p:nvSpPr>
        <p:spPr/>
        <p:txBody>
          <a:bodyPr/>
          <a:lstStyle/>
          <a:p>
            <a:pPr>
              <a:defRPr/>
            </a:pPr>
            <a:fld id="{2571F5BB-190B-45BA-B754-2541F8CA6F46}" type="slidenum">
              <a:rPr lang="en-US" altLang="en-US" smtClean="0"/>
              <a:pPr>
                <a:defRPr/>
              </a:pPr>
              <a:t>‹#›</a:t>
            </a:fld>
            <a:endParaRPr lang="en-US" altLang="en-US"/>
          </a:p>
        </p:txBody>
      </p:sp>
    </p:spTree>
    <p:extLst>
      <p:ext uri="{BB962C8B-B14F-4D97-AF65-F5344CB8AC3E}">
        <p14:creationId xmlns:p14="http://schemas.microsoft.com/office/powerpoint/2010/main" val="3391911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7" y="204787"/>
            <a:ext cx="3008313" cy="871538"/>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04791"/>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7"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B23D5D28-C9FF-4D3A-BB99-C138B6E9F587}" type="datetime3">
              <a:rPr lang="en-US" smtClean="0"/>
              <a:t>8 November 2025</a:t>
            </a:fld>
            <a:endParaRPr lang="en-US" dirty="0"/>
          </a:p>
        </p:txBody>
      </p:sp>
      <p:sp>
        <p:nvSpPr>
          <p:cNvPr id="6" name="Footer Placeholder 5"/>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7" name="Slide Number Placeholder 6"/>
          <p:cNvSpPr>
            <a:spLocks noGrp="1"/>
          </p:cNvSpPr>
          <p:nvPr>
            <p:ph type="sldNum" sz="quarter" idx="12"/>
          </p:nvPr>
        </p:nvSpPr>
        <p:spPr/>
        <p:txBody>
          <a:bodyPr/>
          <a:lstStyle/>
          <a:p>
            <a:pPr>
              <a:defRPr/>
            </a:pPr>
            <a:fld id="{4B3D1EAA-7E8D-49EA-BCBB-3C5BA424400D}" type="slidenum">
              <a:rPr lang="en-US" altLang="en-US" smtClean="0"/>
              <a:pPr>
                <a:defRPr/>
              </a:pPr>
              <a:t>‹#›</a:t>
            </a:fld>
            <a:endParaRPr lang="en-US" altLang="en-US"/>
          </a:p>
        </p:txBody>
      </p:sp>
    </p:spTree>
    <p:extLst>
      <p:ext uri="{BB962C8B-B14F-4D97-AF65-F5344CB8AC3E}">
        <p14:creationId xmlns:p14="http://schemas.microsoft.com/office/powerpoint/2010/main" val="324358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4025506"/>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38681E7-1AF9-42CC-BEC0-592AA2C12F55}" type="datetime3">
              <a:rPr lang="en-US" smtClean="0"/>
              <a:t>8 November 2025</a:t>
            </a:fld>
            <a:endParaRPr lang="en-US" dirty="0"/>
          </a:p>
        </p:txBody>
      </p:sp>
      <p:sp>
        <p:nvSpPr>
          <p:cNvPr id="6" name="Footer Placeholder 5"/>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7" name="Slide Number Placeholder 6"/>
          <p:cNvSpPr>
            <a:spLocks noGrp="1"/>
          </p:cNvSpPr>
          <p:nvPr>
            <p:ph type="sldNum" sz="quarter" idx="12"/>
          </p:nvPr>
        </p:nvSpPr>
        <p:spPr/>
        <p:txBody>
          <a:bodyPr/>
          <a:lstStyle/>
          <a:p>
            <a:pPr>
              <a:defRPr/>
            </a:pPr>
            <a:fld id="{7B93E55C-A662-4067-BE20-A4D82E579A38}" type="slidenum">
              <a:rPr lang="en-US" altLang="en-US" smtClean="0"/>
              <a:pPr>
                <a:defRPr/>
              </a:pPr>
              <a:t>‹#›</a:t>
            </a:fld>
            <a:endParaRPr lang="en-US" altLang="en-US"/>
          </a:p>
        </p:txBody>
      </p:sp>
    </p:spTree>
    <p:extLst>
      <p:ext uri="{BB962C8B-B14F-4D97-AF65-F5344CB8AC3E}">
        <p14:creationId xmlns:p14="http://schemas.microsoft.com/office/powerpoint/2010/main" val="1999750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a:defRPr/>
            </a:pPr>
            <a:fld id="{2D2E4B7A-DF25-4C56-B396-6170996E16F8}" type="datetime3">
              <a:rPr lang="en-US" smtClean="0"/>
              <a:t>8 November 2025</a:t>
            </a:fld>
            <a:endParaRPr lang="en-US" dirty="0"/>
          </a:p>
        </p:txBody>
      </p:sp>
      <p:sp>
        <p:nvSpPr>
          <p:cNvPr id="5" name="Footer Placeholder 4"/>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9A0C11DA-FA02-4E33-93FC-C378FAF95FBA}" type="slidenum">
              <a:rPr lang="en-US" altLang="en-US" smtClean="0"/>
              <a:pPr>
                <a:defRPr/>
              </a:pPr>
              <a:t>‹#›</a:t>
            </a:fld>
            <a:endParaRPr lang="en-US" altLang="en-US"/>
          </a:p>
        </p:txBody>
      </p:sp>
    </p:spTree>
    <p:extLst>
      <p:ext uri="{BB962C8B-B14F-4D97-AF65-F5344CB8AC3E}">
        <p14:creationId xmlns:p14="http://schemas.microsoft.com/office/powerpoint/2010/main" val="2458423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3"/>
            <a:ext cx="2057400" cy="329088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154783"/>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a:defRPr/>
            </a:pPr>
            <a:fld id="{C40D5A71-0894-4150-92A8-237524E8F949}" type="datetime3">
              <a:rPr lang="en-US" smtClean="0"/>
              <a:t>8 November 2025</a:t>
            </a:fld>
            <a:endParaRPr lang="en-US" dirty="0"/>
          </a:p>
        </p:txBody>
      </p:sp>
      <p:sp>
        <p:nvSpPr>
          <p:cNvPr id="5" name="Footer Placeholder 4"/>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B1E085C4-C07B-4C80-B337-90438D59D3CD}" type="slidenum">
              <a:rPr lang="en-US" altLang="en-US" smtClean="0"/>
              <a:pPr>
                <a:defRPr/>
              </a:pPr>
              <a:t>‹#›</a:t>
            </a:fld>
            <a:endParaRPr lang="en-US" altLang="en-US"/>
          </a:p>
        </p:txBody>
      </p:sp>
    </p:spTree>
    <p:extLst>
      <p:ext uri="{BB962C8B-B14F-4D97-AF65-F5344CB8AC3E}">
        <p14:creationId xmlns:p14="http://schemas.microsoft.com/office/powerpoint/2010/main" val="68046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0B68EF4-4A93-4254-93FA-70D1F2A755E3}" type="datetime3">
              <a:rPr lang="en-US" smtClean="0"/>
              <a:t>8 November 2025</a:t>
            </a:fld>
            <a:endParaRPr lang="en-US" dirty="0"/>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BATCH NO:          DEPARTMENT OF COMPUTER SCIENCE &amp; ENGINEERING </a:t>
            </a:r>
            <a:endParaRPr lang="en-US" dirty="0"/>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D78D2778-B29C-49DB-A26C-44F5760A332D}" type="slidenum">
              <a:rPr lang="en-US" altLang="en-US" smtClean="0"/>
              <a:pPr>
                <a:defRPr/>
              </a:pPr>
              <a:t>‹#›</a:t>
            </a:fld>
            <a:endParaRPr lang="en-US" altLang="en-US"/>
          </a:p>
        </p:txBody>
      </p:sp>
    </p:spTree>
    <p:extLst>
      <p:ext uri="{BB962C8B-B14F-4D97-AF65-F5344CB8AC3E}">
        <p14:creationId xmlns:p14="http://schemas.microsoft.com/office/powerpoint/2010/main" val="4095312722"/>
      </p:ext>
    </p:extLst>
  </p:cSld>
  <p:clrMap bg1="lt1" tx1="dk1" bg2="lt2" tx2="dk2" accent1="accent1" accent2="accent2" accent3="accent3" accent4="accent4" accent5="accent5" accent6="accent6" hlink="hlink" folHlink="folHlink"/>
  <p:sldLayoutIdLst>
    <p:sldLayoutId id="2147484047" r:id="rId1"/>
    <p:sldLayoutId id="2147484048" r:id="rId2"/>
    <p:sldLayoutId id="2147484049" r:id="rId3"/>
    <p:sldLayoutId id="2147484050" r:id="rId4"/>
    <p:sldLayoutId id="2147484051" r:id="rId5"/>
    <p:sldLayoutId id="2147484052" r:id="rId6"/>
    <p:sldLayoutId id="2147484053" r:id="rId7"/>
    <p:sldLayoutId id="2147484054" r:id="rId8"/>
    <p:sldLayoutId id="2147484055" r:id="rId9"/>
    <p:sldLayoutId id="2147484056" r:id="rId10"/>
    <p:sldLayoutId id="2147484057"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a:xfrm>
            <a:off x="457199" y="4767264"/>
            <a:ext cx="7943385" cy="273844"/>
          </a:xfrm>
        </p:spPr>
        <p:txBody>
          <a:bodyPr/>
          <a:lstStyle/>
          <a:p>
            <a:pPr>
              <a:defRPr/>
            </a:pPr>
            <a:r>
              <a:rPr lang="en-US" dirty="0"/>
              <a:t>Date                                                         BATCH NO:          DEPARTMENT OF INFORMATION TECHNOLOGY</a:t>
            </a:r>
          </a:p>
        </p:txBody>
      </p:sp>
      <p:sp>
        <p:nvSpPr>
          <p:cNvPr id="5" name="Footer Placeholder 4"/>
          <p:cNvSpPr>
            <a:spLocks noGrp="1"/>
          </p:cNvSpPr>
          <p:nvPr>
            <p:ph type="ftr" sz="quarter" idx="11"/>
          </p:nvPr>
        </p:nvSpPr>
        <p:spPr>
          <a:xfrm>
            <a:off x="1749137" y="1322460"/>
            <a:ext cx="6001617" cy="1059873"/>
          </a:xfrm>
        </p:spPr>
        <p:txBody>
          <a:bodyPr/>
          <a:lstStyle/>
          <a:p>
            <a:pPr algn="ctr">
              <a:defRPr/>
            </a:pPr>
            <a:r>
              <a:rPr lang="en-US" sz="1400" b="1" dirty="0">
                <a:solidFill>
                  <a:srgbClr val="051D40"/>
                </a:solidFill>
                <a:latin typeface="Times New Roman" pitchFamily="18" charset="0"/>
                <a:ea typeface="Open Sans Extra Bold"/>
                <a:cs typeface="Times New Roman" pitchFamily="18" charset="0"/>
                <a:sym typeface="Open Sans Extra Bold"/>
              </a:rPr>
              <a:t>DEPARTMENT OF INFORMATION TECHNOLOGY</a:t>
            </a:r>
          </a:p>
          <a:p>
            <a:pPr algn="ctr">
              <a:defRPr/>
            </a:pPr>
            <a:r>
              <a:rPr lang="en-US" sz="1400" b="1" dirty="0">
                <a:solidFill>
                  <a:srgbClr val="051D40"/>
                </a:solidFill>
                <a:latin typeface="Times New Roman" pitchFamily="18" charset="0"/>
                <a:ea typeface="Open Sans Extra Bold"/>
                <a:cs typeface="Times New Roman" pitchFamily="18" charset="0"/>
                <a:sym typeface="Open Sans Extra Bold"/>
              </a:rPr>
              <a:t>SCHOOL OF COMPUTING</a:t>
            </a:r>
          </a:p>
          <a:p>
            <a:pPr algn="ctr">
              <a:defRPr/>
            </a:pPr>
            <a:r>
              <a:rPr lang="en-US" sz="1400" b="1" dirty="0">
                <a:solidFill>
                  <a:srgbClr val="051D40"/>
                </a:solidFill>
                <a:latin typeface="Times New Roman" pitchFamily="18" charset="0"/>
                <a:ea typeface="Open Sans Extra Bold"/>
                <a:cs typeface="Times New Roman" pitchFamily="18" charset="0"/>
                <a:sym typeface="Open Sans Extra Bold"/>
              </a:rPr>
              <a:t>10214IT601- MINOR PROJECT – I</a:t>
            </a:r>
          </a:p>
          <a:p>
            <a:pPr algn="ctr">
              <a:defRPr/>
            </a:pPr>
            <a:r>
              <a:rPr lang="en-US" sz="1400" b="1" dirty="0">
                <a:solidFill>
                  <a:srgbClr val="051D40"/>
                </a:solidFill>
                <a:latin typeface="Times New Roman" pitchFamily="18" charset="0"/>
                <a:ea typeface="Open Sans Extra Bold"/>
                <a:cs typeface="Times New Roman" pitchFamily="18" charset="0"/>
                <a:sym typeface="Open Sans Extra Bold"/>
              </a:rPr>
              <a:t>ACADEMIC YEAR – 2025-2026(SUMMER SEMESTER)</a:t>
            </a:r>
          </a:p>
          <a:p>
            <a:pPr algn="ctr">
              <a:defRPr/>
            </a:pPr>
            <a:r>
              <a:rPr lang="en-US" sz="1400" b="1" dirty="0">
                <a:solidFill>
                  <a:srgbClr val="051D40"/>
                </a:solidFill>
                <a:latin typeface="Open Sans Extra Bold"/>
                <a:ea typeface="Open Sans Extra Bold"/>
                <a:cs typeface="Open Sans Extra Bold"/>
                <a:sym typeface="Open Sans Extra Bold"/>
              </a:rPr>
              <a:t>REVIEW -2</a:t>
            </a:r>
          </a:p>
          <a:p>
            <a:pPr algn="ctr">
              <a:defRPr/>
            </a:pPr>
            <a:r>
              <a:rPr lang="en-US" sz="1400" b="1" dirty="0">
                <a:solidFill>
                  <a:srgbClr val="051D40"/>
                </a:solidFill>
                <a:latin typeface="Times New Roman" pitchFamily="18" charset="0"/>
                <a:ea typeface="Open Sans Extra Bold"/>
                <a:cs typeface="Times New Roman" pitchFamily="18" charset="0"/>
                <a:sym typeface="Open Sans Extra Bold"/>
              </a:rPr>
              <a:t> </a:t>
            </a:r>
            <a:endParaRPr lang="en-US" b="1" dirty="0">
              <a:latin typeface="Times New Roman" pitchFamily="18" charset="0"/>
              <a:cs typeface="Times New Roman" pitchFamily="18" charset="0"/>
            </a:endParaRPr>
          </a:p>
        </p:txBody>
      </p:sp>
      <p:sp>
        <p:nvSpPr>
          <p:cNvPr id="8196" name="Slide Number Placeholder 5"/>
          <p:cNvSpPr>
            <a:spLocks noGrp="1" noChangeArrowheads="1"/>
          </p:cNvSpPr>
          <p:nvPr>
            <p:ph type="sldNum" sz="quarter" idx="12"/>
          </p:nvPr>
        </p:nvSpPr>
        <p:spPr bwMode="auto">
          <a:noFill/>
          <a:ln>
            <a:miter lim="800000"/>
            <a:headEnd/>
            <a:tailEnd/>
          </a:ln>
        </p:spPr>
        <p:txBody>
          <a:bodyPr>
            <a:normAutofit lnSpcReduction="10000"/>
          </a:bodyPr>
          <a:lstStyle/>
          <a:p>
            <a:fld id="{C8B3AA75-1EA1-4A20-9182-A423EE2FFA8F}" type="slidenum">
              <a:rPr lang="en-US" altLang="en-US"/>
              <a:pPr/>
              <a:t>1</a:t>
            </a:fld>
            <a:endParaRPr lang="en-US" altLang="en-US"/>
          </a:p>
        </p:txBody>
      </p:sp>
      <p:sp>
        <p:nvSpPr>
          <p:cNvPr id="8197" name="TextBox 6"/>
          <p:cNvSpPr txBox="1">
            <a:spLocks noChangeArrowheads="1"/>
          </p:cNvSpPr>
          <p:nvPr/>
        </p:nvSpPr>
        <p:spPr bwMode="auto">
          <a:xfrm flipH="1">
            <a:off x="180110" y="3416878"/>
            <a:ext cx="3414428" cy="830997"/>
          </a:xfrm>
          <a:prstGeom prst="rect">
            <a:avLst/>
          </a:prstGeom>
          <a:noFill/>
          <a:ln w="9525">
            <a:noFill/>
            <a:miter lim="800000"/>
            <a:headEnd/>
            <a:tailEnd/>
          </a:ln>
        </p:spPr>
        <p:txBody>
          <a:bodyPr wrap="square">
            <a:spAutoFit/>
          </a:bodyPr>
          <a:lstStyle/>
          <a:p>
            <a:pPr algn="ctr" eaLnBrk="1" fontAlgn="auto" hangingPunct="1">
              <a:spcAft>
                <a:spcPts val="0"/>
              </a:spcAft>
              <a:defRPr/>
            </a:pPr>
            <a:r>
              <a:rPr lang="en-US" sz="1200" b="1" dirty="0">
                <a:solidFill>
                  <a:srgbClr val="051D40"/>
                </a:solidFill>
                <a:latin typeface="Open Sans Extra Bold"/>
                <a:ea typeface="Open Sans Extra Bold"/>
                <a:cs typeface="Open Sans Extra Bold"/>
                <a:sym typeface="Open Sans Extra Bold"/>
              </a:rPr>
              <a:t>PRESENTED BY</a:t>
            </a:r>
          </a:p>
          <a:p>
            <a:pPr algn="ctr" eaLnBrk="1" fontAlgn="auto" hangingPunct="1">
              <a:spcAft>
                <a:spcPts val="0"/>
              </a:spcAft>
              <a:defRPr/>
            </a:pPr>
            <a:r>
              <a:rPr lang="en-US" sz="1200" b="1" dirty="0">
                <a:solidFill>
                  <a:srgbClr val="051D40"/>
                </a:solidFill>
                <a:latin typeface="Open Sans Extra Bold"/>
                <a:ea typeface="Open Sans Extra Bold"/>
                <a:cs typeface="Open Sans Extra Bold"/>
                <a:sym typeface="Open Sans Extra Bold"/>
              </a:rPr>
              <a:t>1. C. </a:t>
            </a:r>
            <a:r>
              <a:rPr lang="en-US" sz="1200" b="1" dirty="0" err="1">
                <a:solidFill>
                  <a:srgbClr val="051D40"/>
                </a:solidFill>
                <a:latin typeface="Open Sans Extra Bold"/>
                <a:ea typeface="Open Sans Extra Bold"/>
                <a:cs typeface="Open Sans Extra Bold"/>
                <a:sym typeface="Open Sans Extra Bold"/>
              </a:rPr>
              <a:t>Gayani</a:t>
            </a:r>
            <a:r>
              <a:rPr lang="en-US" sz="1200" b="1" dirty="0">
                <a:solidFill>
                  <a:srgbClr val="051D40"/>
                </a:solidFill>
                <a:latin typeface="Open Sans Extra Bold"/>
                <a:ea typeface="Open Sans Extra Bold"/>
                <a:cs typeface="Open Sans Extra Bold"/>
                <a:sym typeface="Open Sans Extra Bold"/>
              </a:rPr>
              <a:t> (VTU 27065)(23UEIT0069)</a:t>
            </a:r>
          </a:p>
          <a:p>
            <a:pPr algn="ctr" eaLnBrk="1" fontAlgn="auto" hangingPunct="1">
              <a:spcAft>
                <a:spcPts val="0"/>
              </a:spcAft>
              <a:defRPr/>
            </a:pPr>
            <a:r>
              <a:rPr lang="en-US" sz="1200" b="1" dirty="0">
                <a:solidFill>
                  <a:srgbClr val="051D40"/>
                </a:solidFill>
                <a:latin typeface="Open Sans Extra Bold"/>
                <a:ea typeface="Open Sans Extra Bold"/>
                <a:cs typeface="Open Sans Extra Bold"/>
                <a:sym typeface="Open Sans Extra Bold"/>
              </a:rPr>
              <a:t>   2. Y. Manisha (VTU 26079)(23UEIT0068)</a:t>
            </a:r>
          </a:p>
          <a:p>
            <a:pPr algn="ctr" eaLnBrk="1" fontAlgn="auto" hangingPunct="1">
              <a:spcAft>
                <a:spcPts val="0"/>
              </a:spcAft>
              <a:defRPr/>
            </a:pPr>
            <a:endParaRPr lang="en-US" sz="1200" b="1" dirty="0">
              <a:solidFill>
                <a:srgbClr val="051D40"/>
              </a:solidFill>
              <a:latin typeface="Open Sans Extra Bold"/>
              <a:ea typeface="Open Sans Extra Bold"/>
              <a:cs typeface="Open Sans Extra Bold"/>
              <a:sym typeface="Open Sans Extra Bold"/>
            </a:endParaRPr>
          </a:p>
        </p:txBody>
      </p:sp>
      <p:sp>
        <p:nvSpPr>
          <p:cNvPr id="8" name="Freeform 11"/>
          <p:cNvSpPr/>
          <p:nvPr/>
        </p:nvSpPr>
        <p:spPr>
          <a:xfrm>
            <a:off x="48491" y="48491"/>
            <a:ext cx="2867891" cy="1008784"/>
          </a:xfrm>
          <a:custGeom>
            <a:avLst/>
            <a:gdLst/>
            <a:ahLst/>
            <a:cxnLst/>
            <a:rect l="l" t="t" r="r" b="b"/>
            <a:pathLst>
              <a:path w="3953781" h="1147922">
                <a:moveTo>
                  <a:pt x="0" y="0"/>
                </a:moveTo>
                <a:lnTo>
                  <a:pt x="3953780" y="0"/>
                </a:lnTo>
                <a:lnTo>
                  <a:pt x="3953780" y="1147922"/>
                </a:lnTo>
                <a:lnTo>
                  <a:pt x="0" y="1147922"/>
                </a:lnTo>
                <a:lnTo>
                  <a:pt x="0" y="0"/>
                </a:lnTo>
                <a:close/>
              </a:path>
            </a:pathLst>
          </a:custGeom>
          <a:blipFill>
            <a:blip r:embed="rId2"/>
            <a:stretch>
              <a:fillRect l="-1087" r="-1087"/>
            </a:stretch>
          </a:blipFill>
        </p:spPr>
        <p:txBody>
          <a:bodyPr/>
          <a:lstStyle/>
          <a:p>
            <a:pPr eaLnBrk="1" fontAlgn="auto" hangingPunct="1">
              <a:spcBef>
                <a:spcPts val="0"/>
              </a:spcBef>
              <a:spcAft>
                <a:spcPts val="0"/>
              </a:spcAft>
              <a:defRPr/>
            </a:pPr>
            <a:endParaRPr lang="en-IN" dirty="0">
              <a:latin typeface="+mn-lt"/>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25" y="0"/>
            <a:ext cx="1285875"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018048" y="2958790"/>
            <a:ext cx="3483013" cy="1510798"/>
          </a:xfrm>
          <a:prstGeom prst="rect">
            <a:avLst/>
          </a:prstGeom>
        </p:spPr>
        <p:txBody>
          <a:bodyPr wrap="square">
            <a:spAutoFit/>
          </a:bodyPr>
          <a:lstStyle/>
          <a:p>
            <a:pPr algn="ctr" eaLnBrk="1" fontAlgn="auto" hangingPunct="1">
              <a:lnSpc>
                <a:spcPts val="3855"/>
              </a:lnSpc>
              <a:spcBef>
                <a:spcPts val="0"/>
              </a:spcBef>
              <a:spcAft>
                <a:spcPts val="0"/>
              </a:spcAft>
              <a:defRPr/>
            </a:pPr>
            <a:r>
              <a:rPr lang="en-US" sz="1200" b="1" spc="-55" dirty="0">
                <a:solidFill>
                  <a:srgbClr val="051D40"/>
                </a:solidFill>
                <a:latin typeface="Poppins Bold"/>
                <a:ea typeface="Poppins Bold"/>
                <a:cs typeface="Poppins Bold"/>
                <a:sym typeface="Poppins Bold"/>
              </a:rPr>
              <a:t>SUPERVISED BY</a:t>
            </a:r>
          </a:p>
          <a:p>
            <a:pPr eaLnBrk="1" fontAlgn="auto" hangingPunct="1">
              <a:lnSpc>
                <a:spcPts val="3855"/>
              </a:lnSpc>
              <a:spcBef>
                <a:spcPts val="0"/>
              </a:spcBef>
              <a:spcAft>
                <a:spcPts val="0"/>
              </a:spcAft>
              <a:defRPr/>
            </a:pPr>
            <a:r>
              <a:rPr lang="en-US" sz="1200" b="1" spc="-55" dirty="0">
                <a:solidFill>
                  <a:srgbClr val="051D40"/>
                </a:solidFill>
                <a:latin typeface="Poppins Bold"/>
                <a:ea typeface="Poppins Bold"/>
                <a:cs typeface="Poppins Bold"/>
                <a:sym typeface="Poppins Bold"/>
              </a:rPr>
              <a:t>                                                   </a:t>
            </a:r>
            <a:r>
              <a:rPr lang="en-US" sz="1200" b="1" spc="-55" dirty="0" err="1">
                <a:solidFill>
                  <a:srgbClr val="051D40"/>
                </a:solidFill>
                <a:latin typeface="Poppins Bold"/>
                <a:ea typeface="Poppins Bold"/>
                <a:cs typeface="Poppins Bold"/>
                <a:sym typeface="Poppins Bold"/>
              </a:rPr>
              <a:t>Mrs.DEEPA.J</a:t>
            </a:r>
            <a:endParaRPr lang="en-US" sz="1200" b="1" spc="-55" dirty="0">
              <a:solidFill>
                <a:srgbClr val="051D40"/>
              </a:solidFill>
              <a:latin typeface="Poppins Bold"/>
              <a:ea typeface="Poppins Bold"/>
              <a:cs typeface="Poppins Bold"/>
              <a:sym typeface="Poppins Bold"/>
            </a:endParaRPr>
          </a:p>
          <a:p>
            <a:pPr eaLnBrk="1" fontAlgn="auto" hangingPunct="1">
              <a:lnSpc>
                <a:spcPts val="3855"/>
              </a:lnSpc>
              <a:spcBef>
                <a:spcPts val="0"/>
              </a:spcBef>
              <a:spcAft>
                <a:spcPts val="0"/>
              </a:spcAft>
              <a:defRPr/>
            </a:pPr>
            <a:r>
              <a:rPr lang="en-US" sz="1200" b="1" spc="-55" dirty="0">
                <a:solidFill>
                  <a:srgbClr val="051D40"/>
                </a:solidFill>
                <a:latin typeface="Poppins Bold"/>
                <a:ea typeface="Poppins Bold"/>
                <a:cs typeface="Poppins Bold"/>
                <a:sym typeface="Poppins Bold"/>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fld id="{5E4C9F69-8D19-4DDA-90DF-98A742B56BDA}" type="datetime3">
              <a:rPr lang="en-US" smtClean="0"/>
              <a:t>8 November 2025</a:t>
            </a:fld>
            <a:endParaRPr lang="en-US" dirty="0"/>
          </a:p>
        </p:txBody>
      </p:sp>
      <p:sp>
        <p:nvSpPr>
          <p:cNvPr id="5" name="Footer Placeholder 4"/>
          <p:cNvSpPr>
            <a:spLocks noGrp="1"/>
          </p:cNvSpPr>
          <p:nvPr>
            <p:ph type="ftr" sz="quarter" idx="11"/>
          </p:nvPr>
        </p:nvSpPr>
        <p:spPr>
          <a:xfrm>
            <a:off x="2640013" y="4857750"/>
            <a:ext cx="5935951" cy="206375"/>
          </a:xfrm>
        </p:spPr>
        <p:txBody>
          <a:bodyPr/>
          <a:lstStyle/>
          <a:p>
            <a:pPr>
              <a:defRPr/>
            </a:pPr>
            <a:r>
              <a:rPr lang="en-US" dirty="0"/>
              <a:t>BATCH NO:          DEPARTMENT OF INFORMATION TECHNOLOGY </a:t>
            </a:r>
          </a:p>
        </p:txBody>
      </p:sp>
      <p:sp>
        <p:nvSpPr>
          <p:cNvPr id="9219" name="Slide Number Placeholder 6"/>
          <p:cNvSpPr>
            <a:spLocks noGrp="1" noChangeArrowheads="1"/>
          </p:cNvSpPr>
          <p:nvPr>
            <p:ph type="sldNum" sz="quarter" idx="12"/>
          </p:nvPr>
        </p:nvSpPr>
        <p:spPr bwMode="auto">
          <a:xfrm>
            <a:off x="2817541" y="4767264"/>
            <a:ext cx="5869259" cy="273844"/>
          </a:xfrm>
          <a:noFill/>
          <a:ln>
            <a:miter lim="800000"/>
            <a:headEnd/>
            <a:tailEnd/>
          </a:ln>
        </p:spPr>
        <p:txBody>
          <a:bodyPr/>
          <a:lstStyle/>
          <a:p>
            <a:pPr>
              <a:lnSpc>
                <a:spcPct val="90000"/>
              </a:lnSpc>
            </a:pPr>
            <a:fld id="{089DB55B-AF57-424A-AA3C-DDAA088D3F76}" type="slidenum">
              <a:rPr lang="en-US" altLang="en-US" sz="1100"/>
              <a:pPr>
                <a:lnSpc>
                  <a:spcPct val="90000"/>
                </a:lnSpc>
              </a:pPr>
              <a:t>2</a:t>
            </a:fld>
            <a:endParaRPr lang="en-US" altLang="en-US" sz="1100" dirty="0"/>
          </a:p>
        </p:txBody>
      </p:sp>
      <p:sp>
        <p:nvSpPr>
          <p:cNvPr id="2" name="Rectangle 1"/>
          <p:cNvSpPr/>
          <p:nvPr/>
        </p:nvSpPr>
        <p:spPr>
          <a:xfrm>
            <a:off x="476278" y="1118094"/>
            <a:ext cx="3862981" cy="3970318"/>
          </a:xfrm>
          <a:prstGeom prst="rect">
            <a:avLst/>
          </a:prstGeom>
        </p:spPr>
        <p:txBody>
          <a:bodyPr wrap="none">
            <a:spAutoFit/>
          </a:bodyPr>
          <a:lstStyle/>
          <a:p>
            <a:r>
              <a:rPr lang="en-US" b="1" dirty="0">
                <a:solidFill>
                  <a:srgbClr val="000000"/>
                </a:solidFill>
                <a:latin typeface="Open Sans Extra Bold"/>
                <a:ea typeface="Open Sans Extra Bold"/>
                <a:cs typeface="Open Sans Extra Bold"/>
                <a:sym typeface="Open Sans Extra Bold"/>
              </a:rPr>
              <a:t>AGENDA</a:t>
            </a:r>
          </a:p>
          <a:p>
            <a:endParaRPr lang="en-US" b="1" dirty="0">
              <a:solidFill>
                <a:srgbClr val="000000"/>
              </a:solidFill>
              <a:latin typeface="Open Sans Extra Bold"/>
              <a:ea typeface="Open Sans Extra Bold"/>
              <a:cs typeface="Open Sans Extra Bold"/>
              <a:sym typeface="Open Sans Extra Bold"/>
            </a:endParaRPr>
          </a:p>
          <a:p>
            <a:pPr marL="285750" indent="-285750">
              <a:buFont typeface="Arial" pitchFamily="34" charset="0"/>
              <a:buChar char="•"/>
            </a:pPr>
            <a:r>
              <a:rPr lang="en-US" b="1" dirty="0">
                <a:solidFill>
                  <a:srgbClr val="000000"/>
                </a:solidFill>
                <a:latin typeface="Open Sans Extra Bold"/>
                <a:ea typeface="Open Sans Extra Bold"/>
                <a:cs typeface="Open Sans Extra Bold"/>
                <a:sym typeface="Open Sans Extra Bold"/>
              </a:rPr>
              <a:t>Introduction</a:t>
            </a:r>
          </a:p>
          <a:p>
            <a:pPr marL="285750" indent="-285750">
              <a:buFont typeface="Arial" pitchFamily="34" charset="0"/>
              <a:buChar char="•"/>
            </a:pPr>
            <a:r>
              <a:rPr lang="en-US" b="1" dirty="0">
                <a:solidFill>
                  <a:srgbClr val="000000"/>
                </a:solidFill>
                <a:latin typeface="Open Sans Extra Bold"/>
                <a:ea typeface="Open Sans Extra Bold"/>
                <a:cs typeface="Open Sans Extra Bold"/>
                <a:sym typeface="Open Sans Extra Bold"/>
              </a:rPr>
              <a:t>Literature Survey </a:t>
            </a:r>
          </a:p>
          <a:p>
            <a:pPr marL="285750" indent="-285750">
              <a:buFont typeface="Arial" pitchFamily="34" charset="0"/>
              <a:buChar char="•"/>
            </a:pPr>
            <a:r>
              <a:rPr lang="en-US" b="1" dirty="0">
                <a:solidFill>
                  <a:srgbClr val="000000"/>
                </a:solidFill>
                <a:latin typeface="Open Sans Extra Bold"/>
                <a:ea typeface="Open Sans Extra Bold"/>
                <a:cs typeface="Open Sans Extra Bold"/>
                <a:sym typeface="Open Sans Extra Bold"/>
              </a:rPr>
              <a:t>Problem Statement	</a:t>
            </a:r>
          </a:p>
          <a:p>
            <a:pPr marL="285750" indent="-285750">
              <a:buFont typeface="Arial" pitchFamily="34" charset="0"/>
              <a:buChar char="•"/>
            </a:pPr>
            <a:r>
              <a:rPr lang="en-US" b="1" dirty="0">
                <a:solidFill>
                  <a:srgbClr val="000000"/>
                </a:solidFill>
                <a:latin typeface="Open Sans Extra Bold"/>
                <a:ea typeface="Open Sans Extra Bold"/>
                <a:cs typeface="Open Sans Extra Bold"/>
                <a:sym typeface="Open Sans Extra Bold"/>
              </a:rPr>
              <a:t>Proposed Methodology</a:t>
            </a:r>
          </a:p>
          <a:p>
            <a:pPr marL="285750" indent="-285750">
              <a:buFont typeface="Arial" pitchFamily="34" charset="0"/>
              <a:buChar char="•"/>
            </a:pPr>
            <a:r>
              <a:rPr lang="en-US" b="1" dirty="0">
                <a:solidFill>
                  <a:srgbClr val="000000"/>
                </a:solidFill>
                <a:latin typeface="Open Sans Extra Bold"/>
                <a:ea typeface="Open Sans Extra Bold"/>
                <a:cs typeface="Open Sans Extra Bold"/>
                <a:sym typeface="Open Sans Extra Bold"/>
              </a:rPr>
              <a:t>Proposed System Architecture</a:t>
            </a:r>
          </a:p>
          <a:p>
            <a:pPr marL="285750" indent="-285750">
              <a:buFont typeface="Arial" pitchFamily="34" charset="0"/>
              <a:buChar char="•"/>
            </a:pPr>
            <a:r>
              <a:rPr lang="en-IN" b="1" dirty="0">
                <a:latin typeface="Arial" panose="020B0604020202020204" pitchFamily="34" charset="0"/>
                <a:cs typeface="Arial" panose="020B0604020202020204" pitchFamily="34" charset="0"/>
              </a:rPr>
              <a:t>Implementation Details</a:t>
            </a:r>
          </a:p>
          <a:p>
            <a:pPr marL="285750" indent="-285750">
              <a:buFont typeface="Arial" pitchFamily="34" charset="0"/>
              <a:buChar char="•"/>
            </a:pPr>
            <a:r>
              <a:rPr lang="en-US" altLang="en-US" b="1" dirty="0">
                <a:solidFill>
                  <a:srgbClr val="051D40"/>
                </a:solidFill>
                <a:latin typeface="Arial" pitchFamily="34" charset="0"/>
                <a:ea typeface="Open Sans Extra Bold" charset="0"/>
                <a:cs typeface="Arial" pitchFamily="34" charset="0"/>
                <a:sym typeface="Open Sans Extra Bold" charset="0"/>
              </a:rPr>
              <a:t>Testing &amp; Validation</a:t>
            </a:r>
          </a:p>
          <a:p>
            <a:pPr marL="285750" indent="-285750">
              <a:buFont typeface="Arial" pitchFamily="34" charset="0"/>
              <a:buChar char="•"/>
            </a:pPr>
            <a:r>
              <a:rPr lang="en-IN" b="1" dirty="0">
                <a:latin typeface="Arial" panose="020B0604020202020204" pitchFamily="34" charset="0"/>
                <a:cs typeface="Arial" panose="020B0604020202020204" pitchFamily="34" charset="0"/>
              </a:rPr>
              <a:t>Preliminary Results &amp; Analysis</a:t>
            </a:r>
          </a:p>
          <a:p>
            <a:pPr marL="285750" indent="-285750">
              <a:buFont typeface="Arial" pitchFamily="34" charset="0"/>
              <a:buChar char="•"/>
            </a:pPr>
            <a:r>
              <a:rPr lang="en-US" b="1" dirty="0">
                <a:solidFill>
                  <a:srgbClr val="000000"/>
                </a:solidFill>
                <a:latin typeface="Open Sans Extra Bold"/>
                <a:ea typeface="Open Sans Extra Bold"/>
                <a:cs typeface="Open Sans Extra Bold"/>
                <a:sym typeface="Open Sans Extra Bold"/>
              </a:rPr>
              <a:t>Conclusion and Future Work</a:t>
            </a:r>
          </a:p>
          <a:p>
            <a:pPr marL="285750" indent="-285750">
              <a:buFont typeface="Arial" pitchFamily="34" charset="0"/>
              <a:buChar char="•"/>
            </a:pPr>
            <a:r>
              <a:rPr lang="en-US" b="1" dirty="0">
                <a:solidFill>
                  <a:srgbClr val="000000"/>
                </a:solidFill>
                <a:latin typeface="Open Sans Extra Bold"/>
                <a:ea typeface="Open Sans Extra Bold"/>
                <a:cs typeface="Open Sans Extra Bold"/>
                <a:sym typeface="Open Sans Extra Bold"/>
              </a:rPr>
              <a:t>References</a:t>
            </a:r>
          </a:p>
          <a:p>
            <a:endParaRPr lang="en-US" b="1" dirty="0">
              <a:solidFill>
                <a:srgbClr val="000000"/>
              </a:solidFill>
              <a:latin typeface="Open Sans Extra Bold"/>
              <a:ea typeface="Open Sans Extra Bold"/>
              <a:cs typeface="Open Sans Extra Bold"/>
              <a:sym typeface="Open Sans Extra Bold"/>
            </a:endParaRPr>
          </a:p>
          <a:p>
            <a:endParaRPr lang="en-IN" dirty="0"/>
          </a:p>
        </p:txBody>
      </p:sp>
      <p:sp>
        <p:nvSpPr>
          <p:cNvPr id="15" name="Title 14">
            <a:extLst>
              <a:ext uri="{FF2B5EF4-FFF2-40B4-BE49-F238E27FC236}">
                <a16:creationId xmlns:a16="http://schemas.microsoft.com/office/drawing/2014/main" id="{D1CB3605-F56B-7701-9A0E-2D9291F8905B}"/>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"Cloud-Enabled AI and IoT Integration for Smart Land Use and Public Health"</a:t>
            </a:r>
            <a:endParaRPr lang="en-IN"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lgn="ctr">
              <a:defRPr/>
            </a:pPr>
            <a:r>
              <a:rPr lang="en-US" altLang="en-US" dirty="0">
                <a:solidFill>
                  <a:srgbClr val="FFC000"/>
                </a:solidFill>
              </a:rPr>
              <a:t>Introduction</a:t>
            </a:r>
          </a:p>
        </p:txBody>
      </p:sp>
      <p:sp>
        <p:nvSpPr>
          <p:cNvPr id="13315" name="Rectangle 3"/>
          <p:cNvSpPr>
            <a:spLocks noGrp="1"/>
          </p:cNvSpPr>
          <p:nvPr>
            <p:ph idx="1"/>
          </p:nvPr>
        </p:nvSpPr>
        <p:spPr>
          <a:xfrm>
            <a:off x="457200" y="901700"/>
            <a:ext cx="6605081" cy="3690937"/>
          </a:xfrm>
        </p:spPr>
        <p:txBody>
          <a:bodyPr>
            <a:normAutofit fontScale="70000" lnSpcReduction="20000"/>
          </a:bodyPr>
          <a:lstStyle/>
          <a:p>
            <a:pPr>
              <a:buNone/>
            </a:pPr>
            <a:endParaRPr lang="en-US" sz="2400" dirty="0"/>
          </a:p>
          <a:p>
            <a:pPr marL="119062" indent="0">
              <a:buNone/>
            </a:pPr>
            <a:r>
              <a:rPr lang="en-US" sz="2400" dirty="0"/>
              <a:t> </a:t>
            </a:r>
            <a:r>
              <a:rPr lang="en-US" sz="2400" b="1" dirty="0"/>
              <a:t>Problem Statement</a:t>
            </a:r>
          </a:p>
          <a:p>
            <a:pPr marL="461962"/>
            <a:r>
              <a:rPr lang="en-US" sz="2300" dirty="0"/>
              <a:t>Urbanization, industrial expansion, and agricultural pressures are rapidly changing patterns of land use across many regions. </a:t>
            </a:r>
          </a:p>
          <a:p>
            <a:pPr marL="461962"/>
            <a:r>
              <a:rPr lang="en-US" sz="2300" dirty="0"/>
              <a:t>These changes often lead to deforestation, soil degradation, air and water pollution, and loss of biodiversity, all of which directly impact public health and environmental sustainability.</a:t>
            </a:r>
          </a:p>
          <a:p>
            <a:pPr marL="461962"/>
            <a:r>
              <a:rPr lang="en-US" sz="2300" dirty="0"/>
              <a:t> Traditional methods for land-use monitoring and health risk assessment rely heavily on manual data collection, delayed reporting, and isolated data sources, which make it difficult to respond effectively to emerging issues such as disease outbreaks or pollution events.</a:t>
            </a:r>
          </a:p>
          <a:p>
            <a:pPr marL="461962"/>
            <a:r>
              <a:rPr lang="en-US" sz="2300" dirty="0"/>
              <a:t>There is a growing need for an intelligent, technology-driven solution that can integrate diverse environmental and health data sources, analyze them in real time, and generate actionable insights for policymakers, researchers, and communities.</a:t>
            </a:r>
          </a:p>
          <a:p>
            <a:endParaRPr lang="en-US" altLang="en-US" sz="2400" dirty="0">
              <a:solidFill>
                <a:srgbClr val="0000FF"/>
              </a:solidFill>
            </a:endParaRPr>
          </a:p>
          <a:p>
            <a:endParaRPr lang="en-US" altLang="en-US" sz="2400" dirty="0">
              <a:solidFill>
                <a:srgbClr val="0000FF"/>
              </a:solidFill>
            </a:endParaRPr>
          </a:p>
        </p:txBody>
      </p:sp>
      <p:sp>
        <p:nvSpPr>
          <p:cNvPr id="2" name="Date Placeholder 1"/>
          <p:cNvSpPr>
            <a:spLocks noGrp="1"/>
          </p:cNvSpPr>
          <p:nvPr>
            <p:ph type="dt" sz="half" idx="10"/>
          </p:nvPr>
        </p:nvSpPr>
        <p:spPr/>
        <p:txBody>
          <a:bodyPr/>
          <a:lstStyle/>
          <a:p>
            <a:pPr>
              <a:defRPr/>
            </a:pPr>
            <a:fld id="{62045F47-43EB-4CFA-85B8-57EC616EA918}" type="datetime3">
              <a:rPr lang="en-US" smtClean="0"/>
              <a:t>8 November 2025</a:t>
            </a:fld>
            <a:endParaRPr lang="en-US" dirty="0"/>
          </a:p>
        </p:txBody>
      </p:sp>
      <p:sp>
        <p:nvSpPr>
          <p:cNvPr id="4" name="Footer Placeholder 3"/>
          <p:cNvSpPr>
            <a:spLocks noGrp="1"/>
          </p:cNvSpPr>
          <p:nvPr>
            <p:ph type="ftr" sz="quarter" idx="11"/>
          </p:nvPr>
        </p:nvSpPr>
        <p:spPr>
          <a:xfrm>
            <a:off x="2640013" y="4857750"/>
            <a:ext cx="5984442" cy="206375"/>
          </a:xfrm>
        </p:spPr>
        <p:txBody>
          <a:bodyPr/>
          <a:lstStyle/>
          <a:p>
            <a:pPr>
              <a:defRPr/>
            </a:pPr>
            <a:r>
              <a:rPr lang="en-US" dirty="0"/>
              <a:t>BATCH NO:          DEPARTMENT OF INFORMATION TECHNOLOGY </a:t>
            </a:r>
          </a:p>
        </p:txBody>
      </p:sp>
      <p:sp>
        <p:nvSpPr>
          <p:cNvPr id="13317"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16E5D142-761C-4AC0-BD20-EECEB6996668}" type="slidenum">
              <a:rPr lang="en-US" altLang="en-US"/>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A85681-CDE5-4A49-A8F6-44968C36195E}"/>
              </a:ext>
            </a:extLst>
          </p:cNvPr>
          <p:cNvSpPr>
            <a:spLocks noGrp="1"/>
          </p:cNvSpPr>
          <p:nvPr>
            <p:ph idx="1"/>
          </p:nvPr>
        </p:nvSpPr>
        <p:spPr>
          <a:xfrm>
            <a:off x="397933" y="335756"/>
            <a:ext cx="8229600" cy="3985023"/>
          </a:xfrm>
        </p:spPr>
        <p:txBody>
          <a:bodyPr>
            <a:normAutofit fontScale="62500" lnSpcReduction="20000"/>
          </a:bodyPr>
          <a:lstStyle/>
          <a:p>
            <a:pPr marL="0" indent="0">
              <a:buNone/>
            </a:pPr>
            <a:r>
              <a:rPr lang="en-US" b="1" dirty="0"/>
              <a:t>Project Goal</a:t>
            </a:r>
          </a:p>
          <a:p>
            <a:pPr marL="0" indent="0">
              <a:buNone/>
            </a:pPr>
            <a:endParaRPr lang="en-US" dirty="0"/>
          </a:p>
          <a:p>
            <a:pPr marL="0" indent="0">
              <a:buNone/>
            </a:pPr>
            <a:r>
              <a:rPr lang="en-US" dirty="0"/>
              <a:t>The primary goal of this project is to design and implement a cloud-enabled AI and IoT-based system that facilitates real-time data collection, analysis, and visualization for smart land use and public health management.</a:t>
            </a:r>
          </a:p>
          <a:p>
            <a:pPr marL="0" indent="0">
              <a:buNone/>
            </a:pPr>
            <a:endParaRPr lang="en-US" dirty="0"/>
          </a:p>
          <a:p>
            <a:r>
              <a:rPr lang="en-US" dirty="0"/>
              <a:t>Collect continuous environmental data from distributed IoT sensors (e.g., air quality, soil moisture, temperature, humidity, water quality).</a:t>
            </a:r>
          </a:p>
          <a:p>
            <a:r>
              <a:rPr lang="en-US" dirty="0"/>
              <a:t>Process and store this data efficiently on a scalable cloud platform.</a:t>
            </a:r>
          </a:p>
          <a:p>
            <a:r>
              <a:rPr lang="en-US" dirty="0"/>
              <a:t>Apply artificial intelligence and machine learning models to identify patterns, predict land-use changes, and assess potential health risks.</a:t>
            </a:r>
          </a:p>
          <a:p>
            <a:r>
              <a:rPr lang="en-US" dirty="0"/>
              <a:t>Provide stakeholders with an interactive dashboard and mobile interface to support data-driven policy decisions and public awareness initiatives.</a:t>
            </a:r>
          </a:p>
        </p:txBody>
      </p:sp>
      <p:sp>
        <p:nvSpPr>
          <p:cNvPr id="4" name="Date Placeholder 3">
            <a:extLst>
              <a:ext uri="{FF2B5EF4-FFF2-40B4-BE49-F238E27FC236}">
                <a16:creationId xmlns:a16="http://schemas.microsoft.com/office/drawing/2014/main" id="{C1E144A6-F3B6-4FD6-9DAE-9ADE7FF77D1B}"/>
              </a:ext>
            </a:extLst>
          </p:cNvPr>
          <p:cNvSpPr>
            <a:spLocks noGrp="1"/>
          </p:cNvSpPr>
          <p:nvPr>
            <p:ph type="dt" sz="half" idx="10"/>
          </p:nvPr>
        </p:nvSpPr>
        <p:spPr/>
        <p:txBody>
          <a:bodyPr/>
          <a:lstStyle/>
          <a:p>
            <a:pPr>
              <a:defRPr/>
            </a:pPr>
            <a:fld id="{BB9E9B86-2CF4-48B1-B6D7-BAFE5AD3290E}" type="datetime3">
              <a:rPr lang="en-US" smtClean="0"/>
              <a:t>8 November 2025</a:t>
            </a:fld>
            <a:endParaRPr lang="en-US" dirty="0"/>
          </a:p>
        </p:txBody>
      </p:sp>
      <p:sp>
        <p:nvSpPr>
          <p:cNvPr id="5" name="Footer Placeholder 4">
            <a:extLst>
              <a:ext uri="{FF2B5EF4-FFF2-40B4-BE49-F238E27FC236}">
                <a16:creationId xmlns:a16="http://schemas.microsoft.com/office/drawing/2014/main" id="{0E02CDFF-14B9-4199-811C-923E014A57AA}"/>
              </a:ext>
            </a:extLst>
          </p:cNvPr>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a:extLst>
              <a:ext uri="{FF2B5EF4-FFF2-40B4-BE49-F238E27FC236}">
                <a16:creationId xmlns:a16="http://schemas.microsoft.com/office/drawing/2014/main" id="{67FA58FA-6730-462C-9B1D-D6E755499C2E}"/>
              </a:ext>
            </a:extLst>
          </p:cNvPr>
          <p:cNvSpPr>
            <a:spLocks noGrp="1"/>
          </p:cNvSpPr>
          <p:nvPr>
            <p:ph type="sldNum" sz="quarter" idx="12"/>
          </p:nvPr>
        </p:nvSpPr>
        <p:spPr/>
        <p:txBody>
          <a:bodyPr/>
          <a:lstStyle/>
          <a:p>
            <a:pPr>
              <a:defRPr/>
            </a:pPr>
            <a:fld id="{0E14ABD8-B1EB-4C07-9937-C8C4E38BDF00}" type="slidenum">
              <a:rPr lang="en-US" altLang="en-US" smtClean="0"/>
              <a:pPr>
                <a:defRPr/>
              </a:pPr>
              <a:t>4</a:t>
            </a:fld>
            <a:endParaRPr lang="en-US" altLang="en-US"/>
          </a:p>
        </p:txBody>
      </p:sp>
    </p:spTree>
    <p:extLst>
      <p:ext uri="{BB962C8B-B14F-4D97-AF65-F5344CB8AC3E}">
        <p14:creationId xmlns:p14="http://schemas.microsoft.com/office/powerpoint/2010/main" val="690838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FED502-6315-4D1A-A11A-8DAC76C5D857}"/>
              </a:ext>
            </a:extLst>
          </p:cNvPr>
          <p:cNvSpPr>
            <a:spLocks noGrp="1"/>
          </p:cNvSpPr>
          <p:nvPr>
            <p:ph idx="1"/>
          </p:nvPr>
        </p:nvSpPr>
        <p:spPr>
          <a:xfrm>
            <a:off x="457200" y="169333"/>
            <a:ext cx="8229600" cy="4425290"/>
          </a:xfrm>
        </p:spPr>
        <p:txBody>
          <a:bodyPr>
            <a:normAutofit fontScale="55000" lnSpcReduction="20000"/>
          </a:bodyPr>
          <a:lstStyle/>
          <a:p>
            <a:pPr marL="0" indent="0">
              <a:buNone/>
            </a:pPr>
            <a:r>
              <a:rPr lang="en-US" b="1" dirty="0"/>
              <a:t>Brief Review</a:t>
            </a:r>
          </a:p>
          <a:p>
            <a:pPr marL="0" indent="0">
              <a:buNone/>
            </a:pPr>
            <a:endParaRPr lang="en-US" b="1" dirty="0"/>
          </a:p>
          <a:p>
            <a:r>
              <a:rPr lang="en-US" dirty="0"/>
              <a:t>This project integrates Internet of Things (IoT) technology, cloud computing, and artificial intelligence (AI) into a unified framework.</a:t>
            </a:r>
          </a:p>
          <a:p>
            <a:r>
              <a:rPr lang="en-US" dirty="0"/>
              <a:t>IoT sensors deployed across targeted zones continuously capture multi-dimensional data related to air, water, and soil quality. The data is transmitted securely to a cloud environment where it is preprocessed, stored, and analyzed using AI algorithms. These algorithms help detect trends, correlations, and anomalies — for example, linking high air pollution levels to respiratory illness spikes or identifying land degradation hotspots.</a:t>
            </a:r>
          </a:p>
          <a:p>
            <a:r>
              <a:rPr lang="en-US" dirty="0"/>
              <a:t>The processed insights are then made accessible through an intuitive dashboard and mobile app, offering real-time visualizations, alerts, and recommendations for both authorities and citizens. By combining technology and analytics, the system enhances the ability to plan land use intelligently, mitigate health risks, and promote a more sustainable and healthier environment.</a:t>
            </a:r>
          </a:p>
        </p:txBody>
      </p:sp>
      <p:sp>
        <p:nvSpPr>
          <p:cNvPr id="4" name="Date Placeholder 3">
            <a:extLst>
              <a:ext uri="{FF2B5EF4-FFF2-40B4-BE49-F238E27FC236}">
                <a16:creationId xmlns:a16="http://schemas.microsoft.com/office/drawing/2014/main" id="{9A5FBEA8-3318-4EA2-9126-B72131228C1A}"/>
              </a:ext>
            </a:extLst>
          </p:cNvPr>
          <p:cNvSpPr>
            <a:spLocks noGrp="1"/>
          </p:cNvSpPr>
          <p:nvPr>
            <p:ph type="dt" sz="half" idx="10"/>
          </p:nvPr>
        </p:nvSpPr>
        <p:spPr/>
        <p:txBody>
          <a:bodyPr/>
          <a:lstStyle/>
          <a:p>
            <a:pPr>
              <a:defRPr/>
            </a:pPr>
            <a:fld id="{BB9E9B86-2CF4-48B1-B6D7-BAFE5AD3290E}" type="datetime3">
              <a:rPr lang="en-US" smtClean="0"/>
              <a:t>8 November 2025</a:t>
            </a:fld>
            <a:endParaRPr lang="en-US" dirty="0"/>
          </a:p>
        </p:txBody>
      </p:sp>
      <p:sp>
        <p:nvSpPr>
          <p:cNvPr id="5" name="Footer Placeholder 4">
            <a:extLst>
              <a:ext uri="{FF2B5EF4-FFF2-40B4-BE49-F238E27FC236}">
                <a16:creationId xmlns:a16="http://schemas.microsoft.com/office/drawing/2014/main" id="{53A83ED4-BAAB-4E1D-A2E3-A7C0439A35CA}"/>
              </a:ext>
            </a:extLst>
          </p:cNvPr>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a:extLst>
              <a:ext uri="{FF2B5EF4-FFF2-40B4-BE49-F238E27FC236}">
                <a16:creationId xmlns:a16="http://schemas.microsoft.com/office/drawing/2014/main" id="{0D6C5AF4-2F3C-4017-80A0-57BDB195AE83}"/>
              </a:ext>
            </a:extLst>
          </p:cNvPr>
          <p:cNvSpPr>
            <a:spLocks noGrp="1"/>
          </p:cNvSpPr>
          <p:nvPr>
            <p:ph type="sldNum" sz="quarter" idx="12"/>
          </p:nvPr>
        </p:nvSpPr>
        <p:spPr/>
        <p:txBody>
          <a:bodyPr/>
          <a:lstStyle/>
          <a:p>
            <a:pPr>
              <a:defRPr/>
            </a:pPr>
            <a:fld id="{0E14ABD8-B1EB-4C07-9937-C8C4E38BDF00}" type="slidenum">
              <a:rPr lang="en-US" altLang="en-US" smtClean="0"/>
              <a:pPr>
                <a:defRPr/>
              </a:pPr>
              <a:t>5</a:t>
            </a:fld>
            <a:endParaRPr lang="en-US" altLang="en-US"/>
          </a:p>
        </p:txBody>
      </p:sp>
    </p:spTree>
    <p:extLst>
      <p:ext uri="{BB962C8B-B14F-4D97-AF65-F5344CB8AC3E}">
        <p14:creationId xmlns:p14="http://schemas.microsoft.com/office/powerpoint/2010/main" val="3287727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lgn="ctr">
              <a:defRPr/>
            </a:pPr>
            <a:r>
              <a:rPr lang="en-US" altLang="en-US" dirty="0">
                <a:solidFill>
                  <a:srgbClr val="FFC000"/>
                </a:solidFill>
              </a:rPr>
              <a:t>Literature Survey </a:t>
            </a:r>
          </a:p>
        </p:txBody>
      </p:sp>
      <p:sp>
        <p:nvSpPr>
          <p:cNvPr id="13315" name="Rectangle 3"/>
          <p:cNvSpPr>
            <a:spLocks noGrp="1"/>
          </p:cNvSpPr>
          <p:nvPr>
            <p:ph idx="1"/>
          </p:nvPr>
        </p:nvSpPr>
        <p:spPr>
          <a:xfrm>
            <a:off x="67733" y="1123950"/>
            <a:ext cx="8991600" cy="3643314"/>
          </a:xfrm>
        </p:spPr>
        <p:txBody>
          <a:bodyPr/>
          <a:lstStyle/>
          <a:p>
            <a:pPr>
              <a:buNone/>
            </a:pPr>
            <a:endParaRPr lang="en-US" sz="2400" dirty="0"/>
          </a:p>
          <a:p>
            <a:endParaRPr lang="en-US" altLang="en-US" sz="2400" dirty="0">
              <a:solidFill>
                <a:srgbClr val="0000FF"/>
              </a:solidFill>
            </a:endParaRPr>
          </a:p>
          <a:p>
            <a:endParaRPr lang="en-US" altLang="en-US" sz="2400" dirty="0">
              <a:solidFill>
                <a:srgbClr val="0000FF"/>
              </a:solidFill>
            </a:endParaRPr>
          </a:p>
        </p:txBody>
      </p:sp>
      <p:sp>
        <p:nvSpPr>
          <p:cNvPr id="2" name="Date Placeholder 1"/>
          <p:cNvSpPr>
            <a:spLocks noGrp="1"/>
          </p:cNvSpPr>
          <p:nvPr>
            <p:ph type="dt" sz="half" idx="10"/>
          </p:nvPr>
        </p:nvSpPr>
        <p:spPr/>
        <p:txBody>
          <a:bodyPr/>
          <a:lstStyle/>
          <a:p>
            <a:pPr>
              <a:defRPr/>
            </a:pPr>
            <a:fld id="{7B357140-C9D4-4989-A73C-42BDB9E92689}" type="datetime3">
              <a:rPr lang="en-US" smtClean="0"/>
              <a:t>8 November 2025</a:t>
            </a:fld>
            <a:endParaRPr lang="en-US" dirty="0"/>
          </a:p>
        </p:txBody>
      </p:sp>
      <p:sp>
        <p:nvSpPr>
          <p:cNvPr id="4" name="Footer Placeholder 3"/>
          <p:cNvSpPr>
            <a:spLocks noGrp="1"/>
          </p:cNvSpPr>
          <p:nvPr>
            <p:ph type="ftr" sz="quarter" idx="11"/>
          </p:nvPr>
        </p:nvSpPr>
        <p:spPr>
          <a:xfrm>
            <a:off x="2640013" y="4857750"/>
            <a:ext cx="6039860" cy="206375"/>
          </a:xfrm>
        </p:spPr>
        <p:txBody>
          <a:bodyPr/>
          <a:lstStyle/>
          <a:p>
            <a:pPr>
              <a:defRPr/>
            </a:pPr>
            <a:r>
              <a:rPr lang="en-US" dirty="0"/>
              <a:t>BATCH NO:          DEPARTMENT OF INFORMATION TECHNOLOGY </a:t>
            </a:r>
          </a:p>
        </p:txBody>
      </p:sp>
      <p:sp>
        <p:nvSpPr>
          <p:cNvPr id="13317"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16E5D142-761C-4AC0-BD20-EECEB6996668}" type="slidenum">
              <a:rPr lang="en-US" altLang="en-US"/>
              <a:pPr/>
              <a:t>6</a:t>
            </a:fld>
            <a:endParaRPr lang="en-US" altLang="en-US"/>
          </a:p>
        </p:txBody>
      </p:sp>
      <p:sp>
        <p:nvSpPr>
          <p:cNvPr id="5" name="Rectangle 4"/>
          <p:cNvSpPr/>
          <p:nvPr/>
        </p:nvSpPr>
        <p:spPr>
          <a:xfrm>
            <a:off x="220134" y="1544029"/>
            <a:ext cx="8923866" cy="3623108"/>
          </a:xfrm>
          <a:prstGeom prst="rect">
            <a:avLst/>
          </a:prstGeom>
        </p:spPr>
        <p:txBody>
          <a:bodyPr wrap="square">
            <a:spAutoFit/>
          </a:bodyPr>
          <a:lstStyle/>
          <a:p>
            <a:pPr eaLnBrk="1" fontAlgn="auto" hangingPunct="1">
              <a:lnSpc>
                <a:spcPts val="3079"/>
              </a:lnSpc>
              <a:spcAft>
                <a:spcPts val="0"/>
              </a:spcAft>
              <a:defRPr/>
            </a:pPr>
            <a:r>
              <a:rPr lang="en-US" b="1" dirty="0">
                <a:solidFill>
                  <a:srgbClr val="000000"/>
                </a:solidFill>
                <a:latin typeface="Open Sans Extra Bold"/>
                <a:ea typeface="Open Sans Extra Bold"/>
                <a:cs typeface="Open Sans Extra Bold"/>
                <a:sym typeface="Open Sans Extra Bold"/>
              </a:rPr>
              <a:t>Existing Systems and Related Works:</a:t>
            </a:r>
          </a:p>
          <a:p>
            <a:pPr marL="285750" indent="-285750" eaLnBrk="1" fontAlgn="auto" hangingPunct="1">
              <a:lnSpc>
                <a:spcPts val="3079"/>
              </a:lnSpc>
              <a:spcAft>
                <a:spcPts val="0"/>
              </a:spcAft>
              <a:buFont typeface="Arial" pitchFamily="34" charset="0"/>
              <a:buChar char="•"/>
              <a:defRPr/>
            </a:pPr>
            <a:r>
              <a:rPr lang="en-US" b="1" dirty="0">
                <a:solidFill>
                  <a:srgbClr val="000000"/>
                </a:solidFill>
                <a:latin typeface="Open Sans Extra Bold"/>
                <a:ea typeface="Open Sans Extra Bold"/>
                <a:cs typeface="Open Sans Extra Bold"/>
                <a:sym typeface="Open Sans Extra Bold"/>
              </a:rPr>
              <a:t>Smart Land Use &amp; Urban Planning: </a:t>
            </a:r>
            <a:r>
              <a:rPr lang="en-US" dirty="0">
                <a:solidFill>
                  <a:srgbClr val="000000"/>
                </a:solidFill>
                <a:latin typeface="Open Sans Extra Bold"/>
                <a:ea typeface="Open Sans Extra Bold"/>
                <a:cs typeface="Open Sans Extra Bold"/>
                <a:sym typeface="Open Sans Extra Bold"/>
              </a:rPr>
              <a:t>AI analyzes spatial data for efficient land utilization.</a:t>
            </a:r>
          </a:p>
          <a:p>
            <a:pPr marL="285750" indent="-285750" eaLnBrk="1" fontAlgn="auto" hangingPunct="1">
              <a:lnSpc>
                <a:spcPts val="3079"/>
              </a:lnSpc>
              <a:spcAft>
                <a:spcPts val="0"/>
              </a:spcAft>
              <a:buFont typeface="Arial" pitchFamily="34" charset="0"/>
              <a:buChar char="•"/>
              <a:defRPr/>
            </a:pPr>
            <a:r>
              <a:rPr lang="en-US" b="1" dirty="0">
                <a:solidFill>
                  <a:srgbClr val="000000"/>
                </a:solidFill>
                <a:latin typeface="Open Sans Extra Bold"/>
                <a:ea typeface="Open Sans Extra Bold"/>
                <a:cs typeface="Open Sans Extra Bold"/>
                <a:sym typeface="Open Sans Extra Bold"/>
              </a:rPr>
              <a:t>Public Health Monitoring: </a:t>
            </a:r>
            <a:r>
              <a:rPr lang="en-US" dirty="0">
                <a:solidFill>
                  <a:srgbClr val="000000"/>
                </a:solidFill>
                <a:latin typeface="Open Sans Extra Bold"/>
                <a:ea typeface="Open Sans Extra Bold"/>
                <a:cs typeface="Open Sans Extra Bold"/>
                <a:sym typeface="Open Sans Extra Bold"/>
              </a:rPr>
              <a:t>IoT sensors and wearables track health in real time.</a:t>
            </a:r>
          </a:p>
          <a:p>
            <a:pPr marL="285750" indent="-285750" eaLnBrk="1" fontAlgn="auto" hangingPunct="1">
              <a:lnSpc>
                <a:spcPts val="3079"/>
              </a:lnSpc>
              <a:spcAft>
                <a:spcPts val="0"/>
              </a:spcAft>
              <a:buFont typeface="Arial" pitchFamily="34" charset="0"/>
              <a:buChar char="•"/>
              <a:defRPr/>
            </a:pPr>
            <a:r>
              <a:rPr lang="en-US" b="1" dirty="0">
                <a:solidFill>
                  <a:srgbClr val="000000"/>
                </a:solidFill>
                <a:latin typeface="Open Sans Extra Bold"/>
                <a:ea typeface="Open Sans Extra Bold"/>
                <a:cs typeface="Open Sans Extra Bold"/>
                <a:sym typeface="Open Sans Extra Bold"/>
              </a:rPr>
              <a:t>Environmental &amp; Sustainability Applications: </a:t>
            </a:r>
            <a:r>
              <a:rPr lang="en-US" dirty="0">
                <a:solidFill>
                  <a:srgbClr val="000000"/>
                </a:solidFill>
                <a:latin typeface="Open Sans Extra Bold"/>
                <a:ea typeface="Open Sans Extra Bold"/>
                <a:cs typeface="Open Sans Extra Bold"/>
                <a:sym typeface="Open Sans Extra Bold"/>
              </a:rPr>
              <a:t>AI + IoT monitor pollution, climate, and biodiversity</a:t>
            </a:r>
          </a:p>
          <a:p>
            <a:pPr marL="285750" indent="-285750" eaLnBrk="1" fontAlgn="auto" hangingPunct="1">
              <a:lnSpc>
                <a:spcPts val="3079"/>
              </a:lnSpc>
              <a:spcAft>
                <a:spcPts val="0"/>
              </a:spcAft>
              <a:buFont typeface="Arial" pitchFamily="34" charset="0"/>
              <a:buChar char="•"/>
              <a:defRPr/>
            </a:pPr>
            <a:r>
              <a:rPr lang="en-US" b="1" dirty="0">
                <a:solidFill>
                  <a:srgbClr val="000000"/>
                </a:solidFill>
                <a:latin typeface="Open Sans Extra Bold"/>
                <a:ea typeface="Open Sans Extra Bold"/>
                <a:cs typeface="Open Sans Extra Bold"/>
                <a:sym typeface="Open Sans Extra Bold"/>
              </a:rPr>
              <a:t>Smart Healthcare &amp; Urban Well-being: </a:t>
            </a:r>
            <a:r>
              <a:rPr lang="en-US" dirty="0">
                <a:solidFill>
                  <a:srgbClr val="000000"/>
                </a:solidFill>
                <a:latin typeface="Open Sans Extra Bold"/>
                <a:ea typeface="Open Sans Extra Bold"/>
                <a:cs typeface="Open Sans Extra Bold"/>
                <a:sym typeface="Open Sans Extra Bold"/>
              </a:rPr>
              <a:t>AI-driven disease prediction, personalized treatment.</a:t>
            </a:r>
          </a:p>
          <a:p>
            <a:pPr marL="285750" indent="-285750" eaLnBrk="1" fontAlgn="auto" hangingPunct="1">
              <a:lnSpc>
                <a:spcPts val="3079"/>
              </a:lnSpc>
              <a:spcAft>
                <a:spcPts val="0"/>
              </a:spcAft>
              <a:buFont typeface="Arial" pitchFamily="34" charset="0"/>
              <a:buChar char="•"/>
              <a:defRPr/>
            </a:pPr>
            <a:endParaRPr lang="en-US" dirty="0">
              <a:solidFill>
                <a:srgbClr val="000000"/>
              </a:solidFill>
              <a:latin typeface="Open Sans Extra Bold"/>
              <a:ea typeface="Open Sans Extra Bold"/>
              <a:cs typeface="Open Sans Extra Bold"/>
              <a:sym typeface="Open Sans Extra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lgn="ctr">
              <a:defRPr/>
            </a:pPr>
            <a:r>
              <a:rPr lang="en-US" altLang="en-US" dirty="0">
                <a:solidFill>
                  <a:srgbClr val="FFC000"/>
                </a:solidFill>
              </a:rPr>
              <a:t>Problem Statement</a:t>
            </a:r>
          </a:p>
        </p:txBody>
      </p:sp>
      <p:sp>
        <p:nvSpPr>
          <p:cNvPr id="2" name="Date Placeholder 1"/>
          <p:cNvSpPr>
            <a:spLocks noGrp="1"/>
          </p:cNvSpPr>
          <p:nvPr>
            <p:ph type="dt" sz="half" idx="10"/>
          </p:nvPr>
        </p:nvSpPr>
        <p:spPr/>
        <p:txBody>
          <a:bodyPr/>
          <a:lstStyle/>
          <a:p>
            <a:pPr>
              <a:defRPr/>
            </a:pPr>
            <a:fld id="{ACACBBD2-2467-438D-92B5-6E0AEE3BCC72}" type="datetime3">
              <a:rPr lang="en-US" smtClean="0"/>
              <a:t>8 November 2025</a:t>
            </a:fld>
            <a:endParaRPr lang="en-US" dirty="0"/>
          </a:p>
        </p:txBody>
      </p:sp>
      <p:sp>
        <p:nvSpPr>
          <p:cNvPr id="4" name="Footer Placeholder 3"/>
          <p:cNvSpPr>
            <a:spLocks noGrp="1"/>
          </p:cNvSpPr>
          <p:nvPr>
            <p:ph type="ftr" sz="quarter" idx="11"/>
          </p:nvPr>
        </p:nvSpPr>
        <p:spPr>
          <a:xfrm>
            <a:off x="2640013" y="4857750"/>
            <a:ext cx="6109132" cy="206375"/>
          </a:xfrm>
        </p:spPr>
        <p:txBody>
          <a:bodyPr/>
          <a:lstStyle/>
          <a:p>
            <a:pPr>
              <a:defRPr/>
            </a:pPr>
            <a:r>
              <a:rPr lang="en-US" dirty="0"/>
              <a:t>BATCH NO:          DEPARTMENT OF INFORMATION TECHNOLOGY </a:t>
            </a:r>
          </a:p>
        </p:txBody>
      </p:sp>
      <p:sp>
        <p:nvSpPr>
          <p:cNvPr id="17413" name="Slide Number Placeholder 3"/>
          <p:cNvSpPr>
            <a:spLocks noGrp="1" noChangeArrowheads="1"/>
          </p:cNvSpPr>
          <p:nvPr>
            <p:ph type="sldNum" sz="quarter" idx="12"/>
          </p:nvPr>
        </p:nvSpPr>
        <p:spPr bwMode="auto">
          <a:xfrm>
            <a:off x="252761" y="4767264"/>
            <a:ext cx="8434039" cy="273844"/>
          </a:xfrm>
          <a:noFill/>
          <a:ln>
            <a:miter lim="800000"/>
            <a:headEnd/>
            <a:tailEnd/>
          </a:ln>
        </p:spPr>
        <p:txBody>
          <a:bodyPr>
            <a:normAutofit lnSpcReduction="10000"/>
          </a:bodyPr>
          <a:lstStyle/>
          <a:p>
            <a:fld id="{E6035934-7A1E-49A9-8F0E-54D446F4B506}" type="slidenum">
              <a:rPr lang="en-US" altLang="en-US"/>
              <a:pPr/>
              <a:t>7</a:t>
            </a:fld>
            <a:endParaRPr lang="en-US" altLang="en-US" dirty="0"/>
          </a:p>
        </p:txBody>
      </p:sp>
      <p:sp>
        <p:nvSpPr>
          <p:cNvPr id="6" name="Rectangle 5"/>
          <p:cNvSpPr/>
          <p:nvPr/>
        </p:nvSpPr>
        <p:spPr>
          <a:xfrm>
            <a:off x="569176" y="1135841"/>
            <a:ext cx="8117624" cy="369332"/>
          </a:xfrm>
          <a:prstGeom prst="rect">
            <a:avLst/>
          </a:prstGeom>
        </p:spPr>
        <p:txBody>
          <a:bodyPr wrap="square">
            <a:spAutoFit/>
          </a:bodyPr>
          <a:lstStyle/>
          <a:p>
            <a:r>
              <a:rPr lang="en-US" b="1" dirty="0">
                <a:solidFill>
                  <a:srgbClr val="000000"/>
                </a:solidFill>
                <a:latin typeface="Open Sans Extra Bold"/>
                <a:ea typeface="Open Sans Extra Bold"/>
                <a:cs typeface="Open Sans Extra Bold"/>
                <a:sym typeface="Open Sans Extra Bold"/>
              </a:rPr>
              <a:t>Limitations of Existing Solutions</a:t>
            </a:r>
            <a:endParaRPr lang="en-IN" dirty="0"/>
          </a:p>
        </p:txBody>
      </p:sp>
      <p:sp>
        <p:nvSpPr>
          <p:cNvPr id="10" name="Content Placeholder 9">
            <a:extLst>
              <a:ext uri="{FF2B5EF4-FFF2-40B4-BE49-F238E27FC236}">
                <a16:creationId xmlns:a16="http://schemas.microsoft.com/office/drawing/2014/main" id="{7862B7DA-6B6E-48AC-BE7E-67BF3981394C}"/>
              </a:ext>
            </a:extLst>
          </p:cNvPr>
          <p:cNvSpPr>
            <a:spLocks noGrp="1"/>
          </p:cNvSpPr>
          <p:nvPr>
            <p:ph idx="1"/>
          </p:nvPr>
        </p:nvSpPr>
        <p:spPr>
          <a:xfrm>
            <a:off x="457200" y="1063229"/>
            <a:ext cx="8229600" cy="3531394"/>
          </a:xfrm>
        </p:spPr>
        <p:txBody>
          <a:bodyPr>
            <a:normAutofit lnSpcReduction="10000"/>
          </a:bodyPr>
          <a:lstStyle/>
          <a:p>
            <a:pPr marL="0" indent="0" algn="just">
              <a:buNone/>
            </a:pPr>
            <a:endParaRPr lang="en-US" sz="4000" dirty="0">
              <a:latin typeface="Times New Roman" pitchFamily="18" charset="0"/>
              <a:cs typeface="Times New Roman" pitchFamily="18" charset="0"/>
            </a:endParaRPr>
          </a:p>
          <a:p>
            <a:r>
              <a:rPr lang="en-US" altLang="en-US" sz="2100" b="1" dirty="0"/>
              <a:t>1. Data Privacy and Security</a:t>
            </a:r>
          </a:p>
          <a:p>
            <a:r>
              <a:rPr lang="en-US" altLang="en-US" sz="2100" dirty="0"/>
              <a:t>Challenge: Health and urban data are highly sensitive. IoT devices and cloud platforms often transmit personal or geolocation data over networks, creating vulnerability.</a:t>
            </a:r>
          </a:p>
          <a:p>
            <a:r>
              <a:rPr lang="en-US" altLang="en-US" sz="2100" dirty="0"/>
              <a:t>Current gap: Many solutions lack end-to-end encryption, secure authentication, or privacy-preserving AI models.</a:t>
            </a:r>
          </a:p>
          <a:p>
            <a:r>
              <a:rPr lang="en-US" altLang="en-US" sz="2100" dirty="0"/>
              <a:t>Impact: Unauthorized access can lead to misuse of personal health data, regulatory non-compliance (e.g., HIPAA, GDPR), and public distrust.</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8FAAE8-8F50-4EC2-B259-6A19C30EEFAC}"/>
              </a:ext>
            </a:extLst>
          </p:cNvPr>
          <p:cNvSpPr>
            <a:spLocks noGrp="1"/>
          </p:cNvSpPr>
          <p:nvPr>
            <p:ph idx="1"/>
          </p:nvPr>
        </p:nvSpPr>
        <p:spPr>
          <a:xfrm>
            <a:off x="254001" y="254000"/>
            <a:ext cx="8754532" cy="4340623"/>
          </a:xfrm>
        </p:spPr>
        <p:txBody>
          <a:bodyPr>
            <a:normAutofit/>
          </a:bodyPr>
          <a:lstStyle/>
          <a:p>
            <a:pPr marL="0" indent="0">
              <a:buNone/>
            </a:pPr>
            <a:r>
              <a:rPr lang="en-US" sz="1800" b="1" dirty="0"/>
              <a:t>2. Interoperability Issues</a:t>
            </a:r>
          </a:p>
          <a:p>
            <a:r>
              <a:rPr lang="en-US" sz="1800" dirty="0"/>
              <a:t>Challenge: IoT devices are manufactured by different vendors with varying protocols and communication standards.</a:t>
            </a:r>
          </a:p>
          <a:p>
            <a:r>
              <a:rPr lang="en-US" sz="1800" dirty="0"/>
              <a:t>Current gap: Integrating heterogeneous sensors and data streams into a unified AI-driven platform is complex.</a:t>
            </a:r>
          </a:p>
          <a:p>
            <a:r>
              <a:rPr lang="en-US" sz="1800" dirty="0"/>
              <a:t>Impact: Fragmented systems limit the ability to perform holistic urban planning or public health monitoring.</a:t>
            </a:r>
          </a:p>
          <a:p>
            <a:pPr marL="0" indent="0">
              <a:buNone/>
            </a:pPr>
            <a:r>
              <a:rPr lang="en-US" sz="1800" b="1" dirty="0"/>
              <a:t>3. Scalability Challenges</a:t>
            </a:r>
          </a:p>
          <a:p>
            <a:r>
              <a:rPr lang="en-US" sz="1800" dirty="0"/>
              <a:t>Challenge: Real-time monitoring of large urban areas and populations generates massive datasets.</a:t>
            </a:r>
          </a:p>
          <a:p>
            <a:r>
              <a:rPr lang="en-US" sz="1800" dirty="0"/>
              <a:t>Current gap: Many cloud platforms are not optimized for high-throughput, low-latency processing.</a:t>
            </a:r>
          </a:p>
          <a:p>
            <a:r>
              <a:rPr lang="en-US" sz="1800" dirty="0"/>
              <a:t>Impact: Systems may face delays in decision-making, reducing their effectiveness in time-sensitive situations such as disaster response or disease outbreaks.</a:t>
            </a:r>
          </a:p>
        </p:txBody>
      </p:sp>
      <p:sp>
        <p:nvSpPr>
          <p:cNvPr id="4" name="Date Placeholder 3">
            <a:extLst>
              <a:ext uri="{FF2B5EF4-FFF2-40B4-BE49-F238E27FC236}">
                <a16:creationId xmlns:a16="http://schemas.microsoft.com/office/drawing/2014/main" id="{6982C1AE-E566-44F0-8190-13093E687598}"/>
              </a:ext>
            </a:extLst>
          </p:cNvPr>
          <p:cNvSpPr>
            <a:spLocks noGrp="1"/>
          </p:cNvSpPr>
          <p:nvPr>
            <p:ph type="dt" sz="half" idx="10"/>
          </p:nvPr>
        </p:nvSpPr>
        <p:spPr/>
        <p:txBody>
          <a:bodyPr/>
          <a:lstStyle/>
          <a:p>
            <a:pPr>
              <a:defRPr/>
            </a:pPr>
            <a:fld id="{BB9E9B86-2CF4-48B1-B6D7-BAFE5AD3290E}" type="datetime3">
              <a:rPr lang="en-US" smtClean="0"/>
              <a:t>8 November 2025</a:t>
            </a:fld>
            <a:endParaRPr lang="en-US" dirty="0"/>
          </a:p>
        </p:txBody>
      </p:sp>
      <p:sp>
        <p:nvSpPr>
          <p:cNvPr id="5" name="Footer Placeholder 4">
            <a:extLst>
              <a:ext uri="{FF2B5EF4-FFF2-40B4-BE49-F238E27FC236}">
                <a16:creationId xmlns:a16="http://schemas.microsoft.com/office/drawing/2014/main" id="{06C6BD62-B507-43C8-B781-E5E8A4336EA4}"/>
              </a:ext>
            </a:extLst>
          </p:cNvPr>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a:extLst>
              <a:ext uri="{FF2B5EF4-FFF2-40B4-BE49-F238E27FC236}">
                <a16:creationId xmlns:a16="http://schemas.microsoft.com/office/drawing/2014/main" id="{57304796-6DFB-44CF-95E6-85D3155253C2}"/>
              </a:ext>
            </a:extLst>
          </p:cNvPr>
          <p:cNvSpPr>
            <a:spLocks noGrp="1"/>
          </p:cNvSpPr>
          <p:nvPr>
            <p:ph type="sldNum" sz="quarter" idx="12"/>
          </p:nvPr>
        </p:nvSpPr>
        <p:spPr/>
        <p:txBody>
          <a:bodyPr/>
          <a:lstStyle/>
          <a:p>
            <a:pPr>
              <a:defRPr/>
            </a:pPr>
            <a:fld id="{0E14ABD8-B1EB-4C07-9937-C8C4E38BDF00}" type="slidenum">
              <a:rPr lang="en-US" altLang="en-US" smtClean="0"/>
              <a:pPr>
                <a:defRPr/>
              </a:pPr>
              <a:t>8</a:t>
            </a:fld>
            <a:endParaRPr lang="en-US" altLang="en-US"/>
          </a:p>
        </p:txBody>
      </p:sp>
    </p:spTree>
    <p:extLst>
      <p:ext uri="{BB962C8B-B14F-4D97-AF65-F5344CB8AC3E}">
        <p14:creationId xmlns:p14="http://schemas.microsoft.com/office/powerpoint/2010/main" val="2339199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3F4A36-AF00-441F-975D-B20558C26697}"/>
              </a:ext>
            </a:extLst>
          </p:cNvPr>
          <p:cNvSpPr>
            <a:spLocks noGrp="1"/>
          </p:cNvSpPr>
          <p:nvPr>
            <p:ph idx="1"/>
          </p:nvPr>
        </p:nvSpPr>
        <p:spPr>
          <a:xfrm>
            <a:off x="457200" y="211667"/>
            <a:ext cx="8229600" cy="4382956"/>
          </a:xfrm>
        </p:spPr>
        <p:txBody>
          <a:bodyPr>
            <a:normAutofit/>
          </a:bodyPr>
          <a:lstStyle/>
          <a:p>
            <a:pPr marL="0" indent="0">
              <a:buNone/>
            </a:pPr>
            <a:r>
              <a:rPr lang="en-US" sz="2100" b="1" dirty="0"/>
              <a:t>4. Data Quality and Reliability</a:t>
            </a:r>
          </a:p>
          <a:p>
            <a:r>
              <a:rPr lang="en-US" sz="1800" dirty="0"/>
              <a:t>Challenge: IoT sensors may produce noisy, incomplete, or inconsistent readings due to environmental interference, hardware failures, or calibration errors.</a:t>
            </a:r>
          </a:p>
          <a:p>
            <a:r>
              <a:rPr lang="en-US" sz="1800" dirty="0"/>
              <a:t>Current gap: Limited error-checking, redundancy, or self-healing mechanisms in data pipelines.</a:t>
            </a:r>
          </a:p>
          <a:p>
            <a:r>
              <a:rPr lang="en-US" sz="1800" dirty="0"/>
              <a:t>Impact: AI models trained on low-quality data may provide inaccurate predictions for land use optimization or public health management.</a:t>
            </a:r>
          </a:p>
        </p:txBody>
      </p:sp>
      <p:sp>
        <p:nvSpPr>
          <p:cNvPr id="4" name="Date Placeholder 3">
            <a:extLst>
              <a:ext uri="{FF2B5EF4-FFF2-40B4-BE49-F238E27FC236}">
                <a16:creationId xmlns:a16="http://schemas.microsoft.com/office/drawing/2014/main" id="{5E2091DB-C7E6-4A64-9B1D-35BBB61BFC1D}"/>
              </a:ext>
            </a:extLst>
          </p:cNvPr>
          <p:cNvSpPr>
            <a:spLocks noGrp="1"/>
          </p:cNvSpPr>
          <p:nvPr>
            <p:ph type="dt" sz="half" idx="10"/>
          </p:nvPr>
        </p:nvSpPr>
        <p:spPr/>
        <p:txBody>
          <a:bodyPr/>
          <a:lstStyle/>
          <a:p>
            <a:pPr>
              <a:defRPr/>
            </a:pPr>
            <a:fld id="{BB9E9B86-2CF4-48B1-B6D7-BAFE5AD3290E}" type="datetime3">
              <a:rPr lang="en-US" smtClean="0"/>
              <a:t>8 November 2025</a:t>
            </a:fld>
            <a:endParaRPr lang="en-US" dirty="0"/>
          </a:p>
        </p:txBody>
      </p:sp>
      <p:sp>
        <p:nvSpPr>
          <p:cNvPr id="5" name="Footer Placeholder 4">
            <a:extLst>
              <a:ext uri="{FF2B5EF4-FFF2-40B4-BE49-F238E27FC236}">
                <a16:creationId xmlns:a16="http://schemas.microsoft.com/office/drawing/2014/main" id="{620AA33E-2902-4C50-BFB0-0D72EDB17189}"/>
              </a:ext>
            </a:extLst>
          </p:cNvPr>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a:extLst>
              <a:ext uri="{FF2B5EF4-FFF2-40B4-BE49-F238E27FC236}">
                <a16:creationId xmlns:a16="http://schemas.microsoft.com/office/drawing/2014/main" id="{AD5D423E-028D-4F22-ADC5-41AE9AC47320}"/>
              </a:ext>
            </a:extLst>
          </p:cNvPr>
          <p:cNvSpPr>
            <a:spLocks noGrp="1"/>
          </p:cNvSpPr>
          <p:nvPr>
            <p:ph type="sldNum" sz="quarter" idx="12"/>
          </p:nvPr>
        </p:nvSpPr>
        <p:spPr/>
        <p:txBody>
          <a:bodyPr/>
          <a:lstStyle/>
          <a:p>
            <a:pPr>
              <a:defRPr/>
            </a:pPr>
            <a:fld id="{0E14ABD8-B1EB-4C07-9937-C8C4E38BDF00}" type="slidenum">
              <a:rPr lang="en-US" altLang="en-US" smtClean="0"/>
              <a:pPr>
                <a:defRPr/>
              </a:pPr>
              <a:t>9</a:t>
            </a:fld>
            <a:endParaRPr lang="en-US" altLang="en-US"/>
          </a:p>
        </p:txBody>
      </p:sp>
    </p:spTree>
    <p:extLst>
      <p:ext uri="{BB962C8B-B14F-4D97-AF65-F5344CB8AC3E}">
        <p14:creationId xmlns:p14="http://schemas.microsoft.com/office/powerpoint/2010/main" val="1177081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lgn="ctr">
              <a:defRPr/>
            </a:pPr>
            <a:r>
              <a:rPr lang="en-US" altLang="en-US" sz="3700" dirty="0">
                <a:solidFill>
                  <a:srgbClr val="FFC000"/>
                </a:solidFill>
              </a:rPr>
              <a:t>Proposed Methodology</a:t>
            </a:r>
          </a:p>
        </p:txBody>
      </p:sp>
      <p:sp>
        <p:nvSpPr>
          <p:cNvPr id="17411" name="Rectangle 3"/>
          <p:cNvSpPr>
            <a:spLocks noGrp="1"/>
          </p:cNvSpPr>
          <p:nvPr>
            <p:ph idx="1"/>
          </p:nvPr>
        </p:nvSpPr>
        <p:spPr>
          <a:xfrm>
            <a:off x="130307" y="880533"/>
            <a:ext cx="8883386" cy="3977217"/>
          </a:xfrm>
        </p:spPr>
        <p:txBody>
          <a:bodyPr>
            <a:normAutofit/>
          </a:bodyPr>
          <a:lstStyle/>
          <a:p>
            <a:pPr marL="0" indent="0" algn="just">
              <a:buNone/>
            </a:pPr>
            <a:r>
              <a:rPr lang="en-US" sz="2400" b="1" dirty="0">
                <a:latin typeface="Times New Roman" pitchFamily="18" charset="0"/>
                <a:cs typeface="Times New Roman" pitchFamily="18" charset="0"/>
              </a:rPr>
              <a:t> </a:t>
            </a:r>
            <a:r>
              <a:rPr lang="en-US" sz="1800" b="1" dirty="0">
                <a:latin typeface="Times New Roman" pitchFamily="18" charset="0"/>
                <a:cs typeface="Times New Roman" pitchFamily="18" charset="0"/>
              </a:rPr>
              <a:t>System Design &amp; Requirements (Planning)</a:t>
            </a:r>
          </a:p>
          <a:p>
            <a:pPr algn="just"/>
            <a:r>
              <a:rPr lang="en-US" sz="1800" dirty="0">
                <a:latin typeface="Times New Roman" pitchFamily="18" charset="0"/>
                <a:cs typeface="Times New Roman" pitchFamily="18" charset="0"/>
              </a:rPr>
              <a:t>Stakeholder analysis identify farmers, city planners, public-health agencies, researchers.</a:t>
            </a:r>
          </a:p>
          <a:p>
            <a:pPr algn="just"/>
            <a:r>
              <a:rPr lang="en-US" sz="1800" dirty="0">
                <a:latin typeface="Times New Roman" pitchFamily="18" charset="0"/>
                <a:cs typeface="Times New Roman" pitchFamily="18" charset="0"/>
              </a:rPr>
              <a:t>Functional requirements real-time sensing, predictive alerts, dashboards, APIs for 3rd-party systems.</a:t>
            </a:r>
          </a:p>
          <a:p>
            <a:pPr algn="just"/>
            <a:r>
              <a:rPr lang="en-US" sz="1800" dirty="0">
                <a:latin typeface="Times New Roman" pitchFamily="18" charset="0"/>
                <a:cs typeface="Times New Roman" pitchFamily="18" charset="0"/>
              </a:rPr>
              <a:t>Non-functional requirements latency (&lt;2s for critical alerts), availability (&gt;98%), security (TLS, RBAC), scalability.</a:t>
            </a:r>
          </a:p>
        </p:txBody>
      </p:sp>
      <p:sp>
        <p:nvSpPr>
          <p:cNvPr id="2" name="Date Placeholder 1"/>
          <p:cNvSpPr>
            <a:spLocks noGrp="1"/>
          </p:cNvSpPr>
          <p:nvPr>
            <p:ph type="dt" sz="half" idx="10"/>
          </p:nvPr>
        </p:nvSpPr>
        <p:spPr/>
        <p:txBody>
          <a:bodyPr/>
          <a:lstStyle/>
          <a:p>
            <a:pPr>
              <a:defRPr/>
            </a:pPr>
            <a:fld id="{93769019-FB0F-4A75-9CAB-E3ABAFEBEF9F}" type="datetime3">
              <a:rPr lang="en-US" smtClean="0"/>
              <a:t>8 November 2025</a:t>
            </a:fld>
            <a:endParaRPr lang="en-US" dirty="0"/>
          </a:p>
        </p:txBody>
      </p:sp>
      <p:sp>
        <p:nvSpPr>
          <p:cNvPr id="4" name="Footer Placeholder 3"/>
          <p:cNvSpPr>
            <a:spLocks noGrp="1"/>
          </p:cNvSpPr>
          <p:nvPr>
            <p:ph type="ftr" sz="quarter" idx="11"/>
          </p:nvPr>
        </p:nvSpPr>
        <p:spPr>
          <a:xfrm>
            <a:off x="2640013" y="4857750"/>
            <a:ext cx="5949805" cy="206375"/>
          </a:xfrm>
        </p:spPr>
        <p:txBody>
          <a:bodyPr/>
          <a:lstStyle/>
          <a:p>
            <a:pPr>
              <a:defRPr/>
            </a:pPr>
            <a:r>
              <a:rPr lang="en-US" dirty="0"/>
              <a:t>BATCH NO:          DEPARTMENT OF INFORMATION TECHNOLOGY </a:t>
            </a:r>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FEC876-9AC8-469A-A365-7CCACE453436}"/>
              </a:ext>
            </a:extLst>
          </p:cNvPr>
          <p:cNvSpPr>
            <a:spLocks noGrp="1"/>
          </p:cNvSpPr>
          <p:nvPr>
            <p:ph idx="1"/>
          </p:nvPr>
        </p:nvSpPr>
        <p:spPr>
          <a:xfrm>
            <a:off x="457200" y="102392"/>
            <a:ext cx="8229600" cy="4492231"/>
          </a:xfrm>
        </p:spPr>
        <p:txBody>
          <a:bodyPr>
            <a:normAutofit fontScale="70000" lnSpcReduction="20000"/>
          </a:bodyPr>
          <a:lstStyle/>
          <a:p>
            <a:r>
              <a:rPr lang="en-US" dirty="0"/>
              <a:t>Sensing &amp; Edge Layer (Data Acquisition)</a:t>
            </a:r>
          </a:p>
          <a:p>
            <a:r>
              <a:rPr lang="en-US" dirty="0"/>
              <a:t>Sensor selection &amp; placement</a:t>
            </a:r>
          </a:p>
          <a:p>
            <a:r>
              <a:rPr lang="en-US" dirty="0"/>
              <a:t>Soil: moisture, pH, EC sensors.</a:t>
            </a:r>
          </a:p>
          <a:p>
            <a:r>
              <a:rPr lang="en-US" dirty="0"/>
              <a:t>Air: PM2.5/PM10 (MQ/optical), NO₂, O₃, CO.</a:t>
            </a:r>
          </a:p>
          <a:p>
            <a:r>
              <a:rPr lang="en-US" dirty="0"/>
              <a:t>Water: turbidity, contamination sensors.</a:t>
            </a:r>
          </a:p>
          <a:p>
            <a:r>
              <a:rPr lang="en-US" dirty="0"/>
              <a:t>Weather: temperature, humidity, wind, rainfall.</a:t>
            </a:r>
          </a:p>
          <a:p>
            <a:r>
              <a:rPr lang="en-US" dirty="0"/>
              <a:t>Imaging: low-altitude drones / fixed cameras (RGB, multispectral).</a:t>
            </a:r>
          </a:p>
          <a:p>
            <a:r>
              <a:rPr lang="en-US" dirty="0"/>
              <a:t>Edge nodes — microcontrollers (ESP32, Raspberry Pi) with local buffering and preprocessing.</a:t>
            </a:r>
          </a:p>
          <a:p>
            <a:r>
              <a:rPr lang="en-US" dirty="0"/>
              <a:t>Connectivity — </a:t>
            </a:r>
            <a:r>
              <a:rPr lang="en-US" dirty="0" err="1"/>
              <a:t>LoRaWAN</a:t>
            </a:r>
            <a:r>
              <a:rPr lang="en-US" dirty="0"/>
              <a:t> for wide-area, Wi-Fi / Cellular for high-bandwidth nodes (drones/cameras).</a:t>
            </a:r>
          </a:p>
          <a:p>
            <a:r>
              <a:rPr lang="en-US" dirty="0"/>
              <a:t>Local actuation — relays, irrigation controllers, sirens for immediate interventions.</a:t>
            </a:r>
          </a:p>
        </p:txBody>
      </p:sp>
      <p:sp>
        <p:nvSpPr>
          <p:cNvPr id="4" name="Date Placeholder 3">
            <a:extLst>
              <a:ext uri="{FF2B5EF4-FFF2-40B4-BE49-F238E27FC236}">
                <a16:creationId xmlns:a16="http://schemas.microsoft.com/office/drawing/2014/main" id="{DAC238E7-86A1-48E1-85AA-61CBC26DFEEB}"/>
              </a:ext>
            </a:extLst>
          </p:cNvPr>
          <p:cNvSpPr>
            <a:spLocks noGrp="1"/>
          </p:cNvSpPr>
          <p:nvPr>
            <p:ph type="dt" sz="half" idx="10"/>
          </p:nvPr>
        </p:nvSpPr>
        <p:spPr/>
        <p:txBody>
          <a:bodyPr/>
          <a:lstStyle/>
          <a:p>
            <a:pPr>
              <a:defRPr/>
            </a:pPr>
            <a:fld id="{BB9E9B86-2CF4-48B1-B6D7-BAFE5AD3290E}" type="datetime3">
              <a:rPr lang="en-US" smtClean="0"/>
              <a:t>8 November 2025</a:t>
            </a:fld>
            <a:endParaRPr lang="en-US" dirty="0"/>
          </a:p>
        </p:txBody>
      </p:sp>
      <p:sp>
        <p:nvSpPr>
          <p:cNvPr id="5" name="Footer Placeholder 4">
            <a:extLst>
              <a:ext uri="{FF2B5EF4-FFF2-40B4-BE49-F238E27FC236}">
                <a16:creationId xmlns:a16="http://schemas.microsoft.com/office/drawing/2014/main" id="{AFC4C958-F475-40E5-AA99-71EC0965CDF5}"/>
              </a:ext>
            </a:extLst>
          </p:cNvPr>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a:extLst>
              <a:ext uri="{FF2B5EF4-FFF2-40B4-BE49-F238E27FC236}">
                <a16:creationId xmlns:a16="http://schemas.microsoft.com/office/drawing/2014/main" id="{AC44AAB9-BF97-4128-B15D-22AA9046EE7E}"/>
              </a:ext>
            </a:extLst>
          </p:cNvPr>
          <p:cNvSpPr>
            <a:spLocks noGrp="1"/>
          </p:cNvSpPr>
          <p:nvPr>
            <p:ph type="sldNum" sz="quarter" idx="12"/>
          </p:nvPr>
        </p:nvSpPr>
        <p:spPr/>
        <p:txBody>
          <a:bodyPr/>
          <a:lstStyle/>
          <a:p>
            <a:pPr>
              <a:defRPr/>
            </a:pPr>
            <a:fld id="{0E14ABD8-B1EB-4C07-9937-C8C4E38BDF00}" type="slidenum">
              <a:rPr lang="en-US" altLang="en-US" smtClean="0"/>
              <a:pPr>
                <a:defRPr/>
              </a:pPr>
              <a:t>11</a:t>
            </a:fld>
            <a:endParaRPr lang="en-US" altLang="en-US"/>
          </a:p>
        </p:txBody>
      </p:sp>
    </p:spTree>
    <p:extLst>
      <p:ext uri="{BB962C8B-B14F-4D97-AF65-F5344CB8AC3E}">
        <p14:creationId xmlns:p14="http://schemas.microsoft.com/office/powerpoint/2010/main" val="3962406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C60C9F4B-1784-4333-9688-35E623B4E632}"/>
              </a:ext>
            </a:extLst>
          </p:cNvPr>
          <p:cNvSpPr>
            <a:spLocks noGrp="1"/>
          </p:cNvSpPr>
          <p:nvPr>
            <p:ph idx="1"/>
          </p:nvPr>
        </p:nvSpPr>
        <p:spPr>
          <a:xfrm>
            <a:off x="457200" y="203200"/>
            <a:ext cx="8229600" cy="4391423"/>
          </a:xfrm>
        </p:spPr>
        <p:txBody>
          <a:bodyPr>
            <a:normAutofit fontScale="70000" lnSpcReduction="20000"/>
          </a:bodyPr>
          <a:lstStyle/>
          <a:p>
            <a:pPr marL="0" indent="0">
              <a:buNone/>
            </a:pPr>
            <a:r>
              <a:rPr lang="en-US" b="1" dirty="0"/>
              <a:t>Edge Processing &amp; Gateway (Preprocessing &amp; Filtering)</a:t>
            </a:r>
          </a:p>
          <a:p>
            <a:r>
              <a:rPr lang="en-US" dirty="0"/>
              <a:t>Data cleaning &amp; validation</a:t>
            </a:r>
          </a:p>
          <a:p>
            <a:r>
              <a:rPr lang="en-US" dirty="0"/>
              <a:t>Range checks, sensor sanity checks, de-noising (moving average).</a:t>
            </a:r>
          </a:p>
          <a:p>
            <a:r>
              <a:rPr lang="en-US" dirty="0"/>
              <a:t>Lightweight edge analytics</a:t>
            </a:r>
          </a:p>
          <a:p>
            <a:r>
              <a:rPr lang="en-US" dirty="0"/>
              <a:t>Threshold checks, simple anomaly detection, event batching.</a:t>
            </a:r>
          </a:p>
          <a:p>
            <a:r>
              <a:rPr lang="en-US" dirty="0"/>
              <a:t>Compression &amp; secure transport</a:t>
            </a:r>
          </a:p>
          <a:p>
            <a:r>
              <a:rPr lang="en-US" dirty="0"/>
              <a:t>MQTT/HTTP over TLS; payload compression for low-bandwidth links.</a:t>
            </a:r>
          </a:p>
          <a:p>
            <a:r>
              <a:rPr lang="en-US" dirty="0"/>
              <a:t>Gateway functions</a:t>
            </a:r>
          </a:p>
          <a:p>
            <a:r>
              <a:rPr lang="en-US" dirty="0"/>
              <a:t>Protocol translation, local time-series cache, OTA firmware updates.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F57965-D65B-42A6-8071-C17324391D18}"/>
              </a:ext>
            </a:extLst>
          </p:cNvPr>
          <p:cNvSpPr>
            <a:spLocks noGrp="1"/>
          </p:cNvSpPr>
          <p:nvPr>
            <p:ph idx="1"/>
          </p:nvPr>
        </p:nvSpPr>
        <p:spPr>
          <a:xfrm>
            <a:off x="457200" y="262467"/>
            <a:ext cx="8229600" cy="4332156"/>
          </a:xfrm>
        </p:spPr>
        <p:txBody>
          <a:bodyPr>
            <a:normAutofit fontScale="55000" lnSpcReduction="20000"/>
          </a:bodyPr>
          <a:lstStyle/>
          <a:p>
            <a:pPr marL="0" indent="0">
              <a:buNone/>
            </a:pPr>
            <a:r>
              <a:rPr lang="en-US" b="1" dirty="0"/>
              <a:t>AI Analytics &amp; Modeling (Core Intelligence)</a:t>
            </a:r>
            <a:endParaRPr lang="en-US" dirty="0"/>
          </a:p>
          <a:p>
            <a:r>
              <a:rPr lang="en-US" dirty="0"/>
              <a:t>Join sensor streams, satellite/drone imagery, historical health records, land-use maps.</a:t>
            </a:r>
          </a:p>
          <a:p>
            <a:r>
              <a:rPr lang="en-US" dirty="0"/>
              <a:t>Feature engineering: time-lags, rolling statistics, meteorological indices, vegetation indices (NDVI).</a:t>
            </a:r>
          </a:p>
          <a:p>
            <a:r>
              <a:rPr lang="en-US" dirty="0"/>
              <a:t>Anomaly detection: Isolation Forest / Autoencoders for sensor anomalies and pollution spikes.</a:t>
            </a:r>
          </a:p>
          <a:p>
            <a:r>
              <a:rPr lang="en-US" dirty="0"/>
              <a:t>Time-series forecasting: LSTM / Prophet / Temporal Fusion Transformer for pollution, soil moisture, disease risk.</a:t>
            </a:r>
          </a:p>
          <a:p>
            <a:r>
              <a:rPr lang="en-US" dirty="0"/>
              <a:t>Spatial models: Random Forest / </a:t>
            </a:r>
            <a:r>
              <a:rPr lang="en-US" dirty="0" err="1"/>
              <a:t>XGBoost</a:t>
            </a:r>
            <a:r>
              <a:rPr lang="en-US" dirty="0"/>
              <a:t> + GIS feature layers for land degradation and hotspot mapping.</a:t>
            </a:r>
          </a:p>
          <a:p>
            <a:r>
              <a:rPr lang="en-US" dirty="0"/>
              <a:t>Image models: CNN / U-Net for crop stress, land-cover classification from drone/satellite imagery.</a:t>
            </a:r>
          </a:p>
          <a:p>
            <a:r>
              <a:rPr lang="en-US" dirty="0"/>
              <a:t>Risk scoring: Ensemble models that combine environmental forecasts + social/data indicators to output public-health risk indices.</a:t>
            </a:r>
          </a:p>
          <a:p>
            <a:r>
              <a:rPr lang="en-US" dirty="0"/>
              <a:t>Offline training pipeline (batch), periodic retraining with drift detection, and online inference API for near-real-time predictions.</a:t>
            </a:r>
          </a:p>
        </p:txBody>
      </p:sp>
      <p:sp>
        <p:nvSpPr>
          <p:cNvPr id="4" name="Date Placeholder 3">
            <a:extLst>
              <a:ext uri="{FF2B5EF4-FFF2-40B4-BE49-F238E27FC236}">
                <a16:creationId xmlns:a16="http://schemas.microsoft.com/office/drawing/2014/main" id="{10EBDFF8-B823-444B-AE6A-8CA3B4C17FF4}"/>
              </a:ext>
            </a:extLst>
          </p:cNvPr>
          <p:cNvSpPr>
            <a:spLocks noGrp="1"/>
          </p:cNvSpPr>
          <p:nvPr>
            <p:ph type="dt" sz="half" idx="10"/>
          </p:nvPr>
        </p:nvSpPr>
        <p:spPr/>
        <p:txBody>
          <a:bodyPr/>
          <a:lstStyle/>
          <a:p>
            <a:pPr>
              <a:defRPr/>
            </a:pPr>
            <a:fld id="{BB9E9B86-2CF4-48B1-B6D7-BAFE5AD3290E}" type="datetime3">
              <a:rPr lang="en-US" smtClean="0"/>
              <a:t>8 November 2025</a:t>
            </a:fld>
            <a:endParaRPr lang="en-US" dirty="0"/>
          </a:p>
        </p:txBody>
      </p:sp>
      <p:sp>
        <p:nvSpPr>
          <p:cNvPr id="5" name="Footer Placeholder 4">
            <a:extLst>
              <a:ext uri="{FF2B5EF4-FFF2-40B4-BE49-F238E27FC236}">
                <a16:creationId xmlns:a16="http://schemas.microsoft.com/office/drawing/2014/main" id="{A7DD42F7-110C-4575-AF5D-B9E01AF502A9}"/>
              </a:ext>
            </a:extLst>
          </p:cNvPr>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a:extLst>
              <a:ext uri="{FF2B5EF4-FFF2-40B4-BE49-F238E27FC236}">
                <a16:creationId xmlns:a16="http://schemas.microsoft.com/office/drawing/2014/main" id="{41A79729-ADA3-4105-A47B-FD5EE513DD6F}"/>
              </a:ext>
            </a:extLst>
          </p:cNvPr>
          <p:cNvSpPr>
            <a:spLocks noGrp="1"/>
          </p:cNvSpPr>
          <p:nvPr>
            <p:ph type="sldNum" sz="quarter" idx="12"/>
          </p:nvPr>
        </p:nvSpPr>
        <p:spPr/>
        <p:txBody>
          <a:bodyPr/>
          <a:lstStyle/>
          <a:p>
            <a:pPr>
              <a:defRPr/>
            </a:pPr>
            <a:fld id="{0E14ABD8-B1EB-4C07-9937-C8C4E38BDF00}" type="slidenum">
              <a:rPr lang="en-US" altLang="en-US" smtClean="0"/>
              <a:pPr>
                <a:defRPr/>
              </a:pPr>
              <a:t>13</a:t>
            </a:fld>
            <a:endParaRPr lang="en-US" altLang="en-US"/>
          </a:p>
        </p:txBody>
      </p:sp>
    </p:spTree>
    <p:extLst>
      <p:ext uri="{BB962C8B-B14F-4D97-AF65-F5344CB8AC3E}">
        <p14:creationId xmlns:p14="http://schemas.microsoft.com/office/powerpoint/2010/main" val="2573607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57ED0481-9AF4-4FB2-A310-6D9EF5B4295A}"/>
              </a:ext>
            </a:extLst>
          </p:cNvPr>
          <p:cNvPicPr>
            <a:picLocks noGrp="1" noChangeAspect="1"/>
          </p:cNvPicPr>
          <p:nvPr>
            <p:ph idx="1"/>
          </p:nvPr>
        </p:nvPicPr>
        <p:blipFill>
          <a:blip r:embed="rId2"/>
          <a:stretch>
            <a:fillRect/>
          </a:stretch>
        </p:blipFill>
        <p:spPr>
          <a:xfrm>
            <a:off x="1679028" y="369888"/>
            <a:ext cx="5801709" cy="4671220"/>
          </a:xfrm>
        </p:spPr>
      </p:pic>
      <p:sp>
        <p:nvSpPr>
          <p:cNvPr id="4" name="Date Placeholder 3">
            <a:extLst>
              <a:ext uri="{FF2B5EF4-FFF2-40B4-BE49-F238E27FC236}">
                <a16:creationId xmlns:a16="http://schemas.microsoft.com/office/drawing/2014/main" id="{9DC77AB8-FD54-4486-9AE6-E69155B5541D}"/>
              </a:ext>
            </a:extLst>
          </p:cNvPr>
          <p:cNvSpPr>
            <a:spLocks noGrp="1"/>
          </p:cNvSpPr>
          <p:nvPr>
            <p:ph type="dt" sz="half" idx="10"/>
          </p:nvPr>
        </p:nvSpPr>
        <p:spPr/>
        <p:txBody>
          <a:bodyPr/>
          <a:lstStyle/>
          <a:p>
            <a:pPr>
              <a:defRPr/>
            </a:pPr>
            <a:fld id="{BB9E9B86-2CF4-48B1-B6D7-BAFE5AD3290E}" type="datetime3">
              <a:rPr lang="en-US" smtClean="0"/>
              <a:t>8 November 2025</a:t>
            </a:fld>
            <a:endParaRPr lang="en-US" dirty="0"/>
          </a:p>
        </p:txBody>
      </p:sp>
      <p:sp>
        <p:nvSpPr>
          <p:cNvPr id="5" name="Footer Placeholder 4">
            <a:extLst>
              <a:ext uri="{FF2B5EF4-FFF2-40B4-BE49-F238E27FC236}">
                <a16:creationId xmlns:a16="http://schemas.microsoft.com/office/drawing/2014/main" id="{D052B14E-0817-4741-B878-26B73CE83336}"/>
              </a:ext>
            </a:extLst>
          </p:cNvPr>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a:extLst>
              <a:ext uri="{FF2B5EF4-FFF2-40B4-BE49-F238E27FC236}">
                <a16:creationId xmlns:a16="http://schemas.microsoft.com/office/drawing/2014/main" id="{99030F1A-23E9-4802-82B6-8AE0B1A001BF}"/>
              </a:ext>
            </a:extLst>
          </p:cNvPr>
          <p:cNvSpPr>
            <a:spLocks noGrp="1"/>
          </p:cNvSpPr>
          <p:nvPr>
            <p:ph type="sldNum" sz="quarter" idx="12"/>
          </p:nvPr>
        </p:nvSpPr>
        <p:spPr/>
        <p:txBody>
          <a:bodyPr/>
          <a:lstStyle/>
          <a:p>
            <a:pPr>
              <a:defRPr/>
            </a:pPr>
            <a:fld id="{0E14ABD8-B1EB-4C07-9937-C8C4E38BDF00}" type="slidenum">
              <a:rPr lang="en-US" altLang="en-US" smtClean="0"/>
              <a:pPr>
                <a:defRPr/>
              </a:pPr>
              <a:t>14</a:t>
            </a:fld>
            <a:endParaRPr lang="en-US" altLang="en-US"/>
          </a:p>
        </p:txBody>
      </p:sp>
    </p:spTree>
    <p:extLst>
      <p:ext uri="{BB962C8B-B14F-4D97-AF65-F5344CB8AC3E}">
        <p14:creationId xmlns:p14="http://schemas.microsoft.com/office/powerpoint/2010/main" val="2106143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defRPr/>
            </a:pPr>
            <a:r>
              <a:rPr lang="en-US" altLang="en-US" dirty="0">
                <a:solidFill>
                  <a:srgbClr val="FFC000"/>
                </a:solidFill>
              </a:rPr>
              <a:t>Summary of Module -1  </a:t>
            </a:r>
          </a:p>
        </p:txBody>
      </p:sp>
      <p:sp>
        <p:nvSpPr>
          <p:cNvPr id="17411" name="Rectangle 3"/>
          <p:cNvSpPr>
            <a:spLocks noGrp="1"/>
          </p:cNvSpPr>
          <p:nvPr>
            <p:ph idx="1"/>
          </p:nvPr>
        </p:nvSpPr>
        <p:spPr>
          <a:xfrm>
            <a:off x="189186" y="1001111"/>
            <a:ext cx="8954814" cy="3936410"/>
          </a:xfrm>
        </p:spPr>
        <p:txBody>
          <a:bodyPr>
            <a:normAutofit/>
          </a:bodyPr>
          <a:lstStyle/>
          <a:p>
            <a:pPr marL="0" indent="0" algn="just">
              <a:buNone/>
            </a:pPr>
            <a:r>
              <a:rPr lang="en-US" sz="1800" dirty="0">
                <a:latin typeface="Times New Roman" pitchFamily="18" charset="0"/>
                <a:cs typeface="Times New Roman" pitchFamily="18" charset="0"/>
              </a:rPr>
              <a:t>The integration ensures scalability, automation, and remote accessibility of systems, improving resource management and health resilience.</a:t>
            </a:r>
          </a:p>
          <a:p>
            <a:pPr marL="0" indent="0" algn="just">
              <a:buNone/>
            </a:pPr>
            <a:r>
              <a:rPr lang="en-US" sz="1800" b="1" dirty="0">
                <a:latin typeface="Times New Roman" pitchFamily="18" charset="0"/>
                <a:cs typeface="Times New Roman" pitchFamily="18" charset="0"/>
              </a:rPr>
              <a:t>Components Used:</a:t>
            </a:r>
          </a:p>
          <a:p>
            <a:pPr marL="0" indent="0" algn="just">
              <a:buNone/>
            </a:pPr>
            <a:r>
              <a:rPr lang="en-US" sz="1800" b="1" dirty="0">
                <a:latin typeface="Times New Roman" pitchFamily="18" charset="0"/>
                <a:cs typeface="Times New Roman" pitchFamily="18" charset="0"/>
              </a:rPr>
              <a:t>1. IoT Layer:</a:t>
            </a:r>
            <a:r>
              <a:rPr lang="en-US" sz="1800" dirty="0">
                <a:latin typeface="Times New Roman" pitchFamily="18" charset="0"/>
                <a:cs typeface="Times New Roman" pitchFamily="18" charset="0"/>
              </a:rPr>
              <a:t> Sensors and devices gather real-time data.</a:t>
            </a:r>
          </a:p>
          <a:p>
            <a:pPr marL="0" indent="0" algn="just">
              <a:buNone/>
            </a:pPr>
            <a:r>
              <a:rPr lang="en-US" sz="1800" b="1" dirty="0">
                <a:latin typeface="Times New Roman" pitchFamily="18" charset="0"/>
                <a:cs typeface="Times New Roman" pitchFamily="18" charset="0"/>
              </a:rPr>
              <a:t>2. Cloud Layer: </a:t>
            </a:r>
            <a:r>
              <a:rPr lang="en-US" sz="1800" dirty="0">
                <a:latin typeface="Times New Roman" pitchFamily="18" charset="0"/>
                <a:cs typeface="Times New Roman" pitchFamily="18" charset="0"/>
              </a:rPr>
              <a:t>Stores, processes, and manages large-scale data securely.</a:t>
            </a:r>
          </a:p>
          <a:p>
            <a:pPr marL="0" indent="0" algn="just">
              <a:buNone/>
            </a:pPr>
            <a:r>
              <a:rPr lang="en-US" sz="1800" b="1" dirty="0">
                <a:latin typeface="Times New Roman" pitchFamily="18" charset="0"/>
                <a:cs typeface="Times New Roman" pitchFamily="18" charset="0"/>
              </a:rPr>
              <a:t>3. AI Layer: </a:t>
            </a:r>
            <a:r>
              <a:rPr lang="en-US" sz="1800" dirty="0">
                <a:latin typeface="Times New Roman" pitchFamily="18" charset="0"/>
                <a:cs typeface="Times New Roman" pitchFamily="18" charset="0"/>
              </a:rPr>
              <a:t>Analyzes data for predictive analytics and intelligent decision-making.</a:t>
            </a:r>
          </a:p>
          <a:p>
            <a:pPr marL="0" indent="0" algn="just">
              <a:buNone/>
            </a:pPr>
            <a:r>
              <a:rPr lang="en-US" sz="1800" b="1" dirty="0">
                <a:latin typeface="Times New Roman" pitchFamily="18" charset="0"/>
                <a:cs typeface="Times New Roman" pitchFamily="18" charset="0"/>
              </a:rPr>
              <a:t>4.</a:t>
            </a:r>
            <a:r>
              <a:rPr lang="en-US" sz="1800" dirty="0">
                <a:latin typeface="Times New Roman" pitchFamily="18" charset="0"/>
                <a:cs typeface="Times New Roman" pitchFamily="18" charset="0"/>
              </a:rPr>
              <a:t> </a:t>
            </a:r>
            <a:r>
              <a:rPr lang="en-US" sz="1800" b="1" dirty="0">
                <a:latin typeface="Times New Roman" pitchFamily="18" charset="0"/>
                <a:cs typeface="Times New Roman" pitchFamily="18" charset="0"/>
              </a:rPr>
              <a:t>Application Layer: </a:t>
            </a:r>
            <a:r>
              <a:rPr lang="en-US" sz="1800" dirty="0">
                <a:latin typeface="Times New Roman" pitchFamily="18" charset="0"/>
                <a:cs typeface="Times New Roman" pitchFamily="18" charset="0"/>
              </a:rPr>
              <a:t>Provides dashboards and visualizations for stakeholders.</a:t>
            </a:r>
          </a:p>
          <a:p>
            <a:pPr marL="0" indent="0" algn="just">
              <a:buNone/>
            </a:pPr>
            <a:r>
              <a:rPr lang="en-US" sz="1800" b="1" dirty="0">
                <a:latin typeface="Times New Roman" pitchFamily="18" charset="0"/>
                <a:cs typeface="Times New Roman" pitchFamily="18" charset="0"/>
              </a:rPr>
              <a:t>Outcomes:</a:t>
            </a:r>
          </a:p>
          <a:p>
            <a:pPr marL="0" indent="0" algn="just">
              <a:buNone/>
            </a:pPr>
            <a:r>
              <a:rPr lang="en-US" sz="1800" dirty="0">
                <a:latin typeface="Times New Roman" pitchFamily="18" charset="0"/>
                <a:cs typeface="Times New Roman" pitchFamily="18" charset="0"/>
              </a:rPr>
              <a:t>• Enhanced environmental and public health monitoring</a:t>
            </a:r>
          </a:p>
          <a:p>
            <a:pPr marL="0" indent="0" algn="just">
              <a:buNone/>
            </a:pPr>
            <a:r>
              <a:rPr lang="en-US" sz="1800" dirty="0">
                <a:latin typeface="Times New Roman" pitchFamily="18" charset="0"/>
                <a:cs typeface="Times New Roman" pitchFamily="18" charset="0"/>
              </a:rPr>
              <a:t>• Smarter land resource allocation</a:t>
            </a:r>
          </a:p>
          <a:p>
            <a:pPr marL="0" indent="0" algn="just">
              <a:buNone/>
            </a:pPr>
            <a:r>
              <a:rPr lang="en-US" sz="1800" dirty="0">
                <a:latin typeface="Times New Roman" pitchFamily="18" charset="0"/>
                <a:cs typeface="Times New Roman" pitchFamily="18" charset="0"/>
              </a:rPr>
              <a:t>• Improved policy-making through data insights</a:t>
            </a:r>
          </a:p>
          <a:p>
            <a:pPr marL="0" indent="0" algn="just">
              <a:buNone/>
            </a:pPr>
            <a:r>
              <a:rPr lang="en-US" sz="1800" dirty="0">
                <a:latin typeface="Times New Roman" pitchFamily="18" charset="0"/>
                <a:cs typeface="Times New Roman" pitchFamily="18" charset="0"/>
              </a:rPr>
              <a:t>• Promotion of sustainability and community wellbeing</a:t>
            </a:r>
          </a:p>
        </p:txBody>
      </p:sp>
      <p:sp>
        <p:nvSpPr>
          <p:cNvPr id="2" name="Date Placeholder 1"/>
          <p:cNvSpPr>
            <a:spLocks noGrp="1"/>
          </p:cNvSpPr>
          <p:nvPr>
            <p:ph type="dt" sz="half" idx="10"/>
          </p:nvPr>
        </p:nvSpPr>
        <p:spPr/>
        <p:txBody>
          <a:bodyPr/>
          <a:lstStyle/>
          <a:p>
            <a:pPr>
              <a:defRPr/>
            </a:pPr>
            <a:fld id="{6F33DD6B-0B28-491A-A486-1BACEB1B935B}" type="datetime3">
              <a:rPr lang="en-US" smtClean="0"/>
              <a:t>8 November 2025</a:t>
            </a:fld>
            <a:endParaRPr lang="en-US" dirty="0"/>
          </a:p>
        </p:txBody>
      </p:sp>
      <p:sp>
        <p:nvSpPr>
          <p:cNvPr id="4" name="Footer Placeholder 3"/>
          <p:cNvSpPr>
            <a:spLocks noGrp="1"/>
          </p:cNvSpPr>
          <p:nvPr>
            <p:ph type="ftr" sz="quarter" idx="11"/>
          </p:nvPr>
        </p:nvSpPr>
        <p:spPr>
          <a:xfrm>
            <a:off x="2640013" y="4857750"/>
            <a:ext cx="6026005" cy="206375"/>
          </a:xfrm>
        </p:spPr>
        <p:txBody>
          <a:bodyPr/>
          <a:lstStyle/>
          <a:p>
            <a:pPr>
              <a:defRPr/>
            </a:pPr>
            <a:r>
              <a:rPr lang="en-US" dirty="0"/>
              <a:t>BATCH NO:          DEPARTMENT OF INFORMATION TECHNOLOGY </a:t>
            </a:r>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15</a:t>
            </a:fld>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defRPr/>
            </a:pPr>
            <a:r>
              <a:rPr lang="en-US" altLang="en-US" dirty="0">
                <a:solidFill>
                  <a:srgbClr val="FFC000"/>
                </a:solidFill>
              </a:rPr>
              <a:t>Summary of   Module -2  </a:t>
            </a:r>
          </a:p>
        </p:txBody>
      </p:sp>
      <p:sp>
        <p:nvSpPr>
          <p:cNvPr id="17411" name="Rectangle 3"/>
          <p:cNvSpPr>
            <a:spLocks noGrp="1"/>
          </p:cNvSpPr>
          <p:nvPr>
            <p:ph idx="1"/>
          </p:nvPr>
        </p:nvSpPr>
        <p:spPr>
          <a:xfrm>
            <a:off x="457200" y="1331913"/>
            <a:ext cx="8229600" cy="3297237"/>
          </a:xfrm>
        </p:spPr>
        <p:txBody>
          <a:bodyPr/>
          <a:lstStyle/>
          <a:p>
            <a:pPr algn="just"/>
            <a:endParaRPr lang="en-US" sz="2400" dirty="0">
              <a:latin typeface="Times New Roman" pitchFamily="18" charset="0"/>
              <a:cs typeface="Times New Roman" pitchFamily="18" charset="0"/>
            </a:endParaRPr>
          </a:p>
          <a:p>
            <a:endParaRPr lang="en-US" altLang="en-US" sz="2400" dirty="0">
              <a:solidFill>
                <a:srgbClr val="0000FF"/>
              </a:solidFill>
            </a:endParaRPr>
          </a:p>
        </p:txBody>
      </p:sp>
      <p:sp>
        <p:nvSpPr>
          <p:cNvPr id="2" name="Date Placeholder 1"/>
          <p:cNvSpPr>
            <a:spLocks noGrp="1"/>
          </p:cNvSpPr>
          <p:nvPr>
            <p:ph type="dt" sz="half" idx="10"/>
          </p:nvPr>
        </p:nvSpPr>
        <p:spPr/>
        <p:txBody>
          <a:bodyPr/>
          <a:lstStyle/>
          <a:p>
            <a:pPr>
              <a:defRPr/>
            </a:pPr>
            <a:fld id="{6D4D9957-7CDC-40CA-BDB9-1A230A56E468}" type="datetime3">
              <a:rPr lang="en-US" smtClean="0"/>
              <a:t>8 November 2025</a:t>
            </a:fld>
            <a:endParaRPr lang="en-US" dirty="0"/>
          </a:p>
        </p:txBody>
      </p:sp>
      <p:sp>
        <p:nvSpPr>
          <p:cNvPr id="4" name="Footer Placeholder 3"/>
          <p:cNvSpPr>
            <a:spLocks noGrp="1"/>
          </p:cNvSpPr>
          <p:nvPr>
            <p:ph type="ftr" sz="quarter" idx="11"/>
          </p:nvPr>
        </p:nvSpPr>
        <p:spPr>
          <a:xfrm>
            <a:off x="2640013" y="4857750"/>
            <a:ext cx="6026005" cy="206375"/>
          </a:xfrm>
        </p:spPr>
        <p:txBody>
          <a:bodyPr/>
          <a:lstStyle/>
          <a:p>
            <a:pPr>
              <a:defRPr/>
            </a:pPr>
            <a:r>
              <a:rPr lang="en-US" dirty="0"/>
              <a:t>BATCH NO:          DEPARTMENT OF INFORMATION TECHNOLOGY </a:t>
            </a:r>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16</a:t>
            </a:fld>
            <a:endParaRPr lang="en-US" altLang="en-US"/>
          </a:p>
        </p:txBody>
      </p:sp>
      <p:sp>
        <p:nvSpPr>
          <p:cNvPr id="8" name="TextBox 7">
            <a:extLst>
              <a:ext uri="{FF2B5EF4-FFF2-40B4-BE49-F238E27FC236}">
                <a16:creationId xmlns:a16="http://schemas.microsoft.com/office/drawing/2014/main" id="{0CDB92FB-B99E-4202-8B5D-4DDCCCBE699C}"/>
              </a:ext>
            </a:extLst>
          </p:cNvPr>
          <p:cNvSpPr txBox="1"/>
          <p:nvPr/>
        </p:nvSpPr>
        <p:spPr>
          <a:xfrm>
            <a:off x="315312" y="796946"/>
            <a:ext cx="8734096" cy="3970318"/>
          </a:xfrm>
          <a:prstGeom prst="rect">
            <a:avLst/>
          </a:prstGeom>
          <a:noFill/>
        </p:spPr>
        <p:txBody>
          <a:bodyPr wrap="square">
            <a:spAutoFit/>
          </a:bodyPr>
          <a:lstStyle/>
          <a:p>
            <a:r>
              <a:rPr lang="en-US" dirty="0"/>
              <a:t>This module emphasizes the analysis, processing, and intelligent utilization of data collected through IoT devices and cloud platforms.</a:t>
            </a:r>
          </a:p>
          <a:p>
            <a:r>
              <a:rPr lang="en-US" b="1" dirty="0"/>
              <a:t>Components Used:</a:t>
            </a:r>
          </a:p>
          <a:p>
            <a:r>
              <a:rPr lang="en-US" dirty="0"/>
              <a:t>1. Data Collection &amp; Preprocessing: Cleaning, filtering, and integrating IoT data.</a:t>
            </a:r>
          </a:p>
          <a:p>
            <a:r>
              <a:rPr lang="en-US" dirty="0"/>
              <a:t>2. Big Data Analytics: Using cloud-based tools to handle large and complex datasets</a:t>
            </a:r>
          </a:p>
          <a:p>
            <a:r>
              <a:rPr lang="en-US" dirty="0"/>
              <a:t>3. AI &amp; Machine Learning Models: Applying algorithms for prediction.</a:t>
            </a:r>
          </a:p>
          <a:p>
            <a:r>
              <a:rPr lang="en-US" dirty="0"/>
              <a:t>4. Visualization &amp; Reporting: Creating dashboards for health and land use insights.</a:t>
            </a:r>
          </a:p>
          <a:p>
            <a:r>
              <a:rPr lang="en-US" dirty="0"/>
              <a:t>5. Decision Support Systems: Assisting planners and policymakers through AI-driven insights.</a:t>
            </a:r>
          </a:p>
          <a:p>
            <a:r>
              <a:rPr lang="en-US" b="1" dirty="0"/>
              <a:t>Outcomes:</a:t>
            </a:r>
          </a:p>
          <a:p>
            <a:r>
              <a:rPr lang="en-US" dirty="0"/>
              <a:t>• Ability to predict and prevent environmental and health risks.</a:t>
            </a:r>
          </a:p>
          <a:p>
            <a:r>
              <a:rPr lang="en-US" dirty="0"/>
              <a:t>• Development of AI-based decision models for smart governance.</a:t>
            </a:r>
          </a:p>
          <a:p>
            <a:r>
              <a:rPr lang="en-US" dirty="0"/>
              <a:t>• Improved data visualization and reporting tools for stakeholders.</a:t>
            </a:r>
          </a:p>
          <a:p>
            <a:r>
              <a:rPr lang="en-US" dirty="0"/>
              <a:t>• Strengthened integration of AI, IoT, and Cloud Computing.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defRPr/>
            </a:pPr>
            <a:r>
              <a:rPr lang="en-US" altLang="en-US" dirty="0">
                <a:solidFill>
                  <a:srgbClr val="FFC000"/>
                </a:solidFill>
              </a:rPr>
              <a:t>Summary of  Modules -3  </a:t>
            </a:r>
          </a:p>
        </p:txBody>
      </p:sp>
      <p:sp>
        <p:nvSpPr>
          <p:cNvPr id="17411" name="Rectangle 3"/>
          <p:cNvSpPr>
            <a:spLocks noGrp="1"/>
          </p:cNvSpPr>
          <p:nvPr>
            <p:ph idx="1"/>
          </p:nvPr>
        </p:nvSpPr>
        <p:spPr>
          <a:xfrm>
            <a:off x="457200" y="1331913"/>
            <a:ext cx="8229600" cy="3297237"/>
          </a:xfrm>
        </p:spPr>
        <p:txBody>
          <a:bodyPr/>
          <a:lstStyle/>
          <a:p>
            <a:pPr algn="just"/>
            <a:endParaRPr lang="en-US" sz="2400" dirty="0">
              <a:latin typeface="Times New Roman" pitchFamily="18" charset="0"/>
              <a:cs typeface="Times New Roman" pitchFamily="18" charset="0"/>
            </a:endParaRPr>
          </a:p>
          <a:p>
            <a:endParaRPr lang="en-US" altLang="en-US" sz="2400" dirty="0">
              <a:solidFill>
                <a:srgbClr val="0000FF"/>
              </a:solidFill>
            </a:endParaRPr>
          </a:p>
        </p:txBody>
      </p:sp>
      <p:sp>
        <p:nvSpPr>
          <p:cNvPr id="2" name="Date Placeholder 1"/>
          <p:cNvSpPr>
            <a:spLocks noGrp="1"/>
          </p:cNvSpPr>
          <p:nvPr>
            <p:ph type="dt" sz="half" idx="10"/>
          </p:nvPr>
        </p:nvSpPr>
        <p:spPr/>
        <p:txBody>
          <a:bodyPr/>
          <a:lstStyle/>
          <a:p>
            <a:pPr>
              <a:defRPr/>
            </a:pPr>
            <a:fld id="{8037AF3A-1BA4-4ABC-931A-1FCF1E47830D}" type="datetime3">
              <a:rPr lang="en-US" smtClean="0"/>
              <a:t>8 November 2025</a:t>
            </a:fld>
            <a:endParaRPr lang="en-US" dirty="0"/>
          </a:p>
        </p:txBody>
      </p:sp>
      <p:sp>
        <p:nvSpPr>
          <p:cNvPr id="4" name="Footer Placeholder 3"/>
          <p:cNvSpPr>
            <a:spLocks noGrp="1"/>
          </p:cNvSpPr>
          <p:nvPr>
            <p:ph type="ftr" sz="quarter" idx="11"/>
          </p:nvPr>
        </p:nvSpPr>
        <p:spPr>
          <a:xfrm>
            <a:off x="2640013" y="4857750"/>
            <a:ext cx="6046787" cy="206375"/>
          </a:xfrm>
        </p:spPr>
        <p:txBody>
          <a:bodyPr/>
          <a:lstStyle/>
          <a:p>
            <a:pPr>
              <a:defRPr/>
            </a:pPr>
            <a:r>
              <a:rPr lang="en-US" dirty="0"/>
              <a:t>BATCH NO:          DEPARTMENT OF INFORMATION TECHNOLOGY </a:t>
            </a:r>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17</a:t>
            </a:fld>
            <a:endParaRPr lang="en-US" altLang="en-US"/>
          </a:p>
        </p:txBody>
      </p:sp>
      <p:sp>
        <p:nvSpPr>
          <p:cNvPr id="8" name="TextBox 7">
            <a:extLst>
              <a:ext uri="{FF2B5EF4-FFF2-40B4-BE49-F238E27FC236}">
                <a16:creationId xmlns:a16="http://schemas.microsoft.com/office/drawing/2014/main" id="{CB168CA7-67DA-405C-953D-9CA6DC7DBE71}"/>
              </a:ext>
            </a:extLst>
          </p:cNvPr>
          <p:cNvSpPr txBox="1"/>
          <p:nvPr/>
        </p:nvSpPr>
        <p:spPr>
          <a:xfrm>
            <a:off x="94592" y="890751"/>
            <a:ext cx="9049407" cy="3970318"/>
          </a:xfrm>
          <a:prstGeom prst="rect">
            <a:avLst/>
          </a:prstGeom>
          <a:noFill/>
        </p:spPr>
        <p:txBody>
          <a:bodyPr wrap="square">
            <a:spAutoFit/>
          </a:bodyPr>
          <a:lstStyle/>
          <a:p>
            <a:r>
              <a:rPr lang="en-US" dirty="0"/>
              <a:t>This module focuses on the practical design, deployment, and security aspects of     implementing integrated AI, IoT, and Cloud-based systems for smart land use and public health.</a:t>
            </a:r>
          </a:p>
          <a:p>
            <a:r>
              <a:rPr lang="en-US" dirty="0"/>
              <a:t>1. System Architecture Design: Integrating IoT, Cloud, and AI layers into a cohesive framework.</a:t>
            </a:r>
          </a:p>
          <a:p>
            <a:r>
              <a:rPr lang="en-US" dirty="0"/>
              <a:t>2. Implementation Strategies: Deploying and testing smart systems for land and health monitoring.</a:t>
            </a:r>
          </a:p>
          <a:p>
            <a:r>
              <a:rPr lang="en-US" dirty="0"/>
              <a:t>3. Communication Protocols: Managing data flow between devices, cloud, and users.</a:t>
            </a:r>
          </a:p>
          <a:p>
            <a:r>
              <a:rPr lang="en-US" dirty="0"/>
              <a:t>4. Security and Privacy: Applying encryption, authentication, and access control.</a:t>
            </a:r>
          </a:p>
          <a:p>
            <a:r>
              <a:rPr lang="en-US" dirty="0"/>
              <a:t>5. Edge and Fog Computing: Enhancing system performance and scalability.</a:t>
            </a:r>
          </a:p>
          <a:p>
            <a:r>
              <a:rPr lang="en-US" b="1" dirty="0"/>
              <a:t>Outcomes:</a:t>
            </a:r>
          </a:p>
          <a:p>
            <a:r>
              <a:rPr lang="en-US" dirty="0"/>
              <a:t>• Understanding of end-to-end system development for real-world applications.</a:t>
            </a:r>
          </a:p>
          <a:p>
            <a:r>
              <a:rPr lang="en-US" dirty="0"/>
              <a:t>• Ability to deploy and maintain secure AI–IoT ecosystem</a:t>
            </a:r>
          </a:p>
          <a:p>
            <a:r>
              <a:rPr lang="en-US" dirty="0"/>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defRPr/>
            </a:pPr>
            <a:r>
              <a:rPr lang="en-US" altLang="en-US" dirty="0">
                <a:solidFill>
                  <a:srgbClr val="FFC000"/>
                </a:solidFill>
              </a:rPr>
              <a:t>Implementation Details</a:t>
            </a:r>
          </a:p>
        </p:txBody>
      </p:sp>
      <p:sp>
        <p:nvSpPr>
          <p:cNvPr id="17411" name="Rectangle 3"/>
          <p:cNvSpPr>
            <a:spLocks noGrp="1"/>
          </p:cNvSpPr>
          <p:nvPr>
            <p:ph idx="1"/>
          </p:nvPr>
        </p:nvSpPr>
        <p:spPr>
          <a:xfrm>
            <a:off x="457200" y="930167"/>
            <a:ext cx="8229600" cy="3698984"/>
          </a:xfrm>
        </p:spPr>
        <p:txBody>
          <a:bodyPr>
            <a:normAutofit lnSpcReduction="10000"/>
          </a:bodyPr>
          <a:lstStyle/>
          <a:p>
            <a:pPr marL="0" indent="0" algn="just">
              <a:buNone/>
            </a:pPr>
            <a:r>
              <a:rPr lang="en-US" sz="1800" b="1" dirty="0">
                <a:latin typeface="Times New Roman" pitchFamily="18" charset="0"/>
                <a:cs typeface="Times New Roman" pitchFamily="18" charset="0"/>
              </a:rPr>
              <a:t>System Architecture Overview:</a:t>
            </a:r>
          </a:p>
          <a:p>
            <a:pPr marL="0" indent="0" algn="just">
              <a:buNone/>
            </a:pPr>
            <a:r>
              <a:rPr lang="en-US" sz="1800" dirty="0">
                <a:latin typeface="Times New Roman" pitchFamily="18" charset="0"/>
                <a:cs typeface="Times New Roman" pitchFamily="18" charset="0"/>
              </a:rPr>
              <a:t>The system integrates IoT sensors, Cloud platforms, and AI analytics into a single intelligent framework.</a:t>
            </a:r>
          </a:p>
          <a:p>
            <a:pPr marL="0" indent="0" algn="just">
              <a:buNone/>
            </a:pPr>
            <a:r>
              <a:rPr lang="en-US" sz="1800" dirty="0">
                <a:latin typeface="Times New Roman" pitchFamily="18" charset="0"/>
                <a:cs typeface="Times New Roman" pitchFamily="18" charset="0"/>
              </a:rPr>
              <a:t>It follows a four-layered architecture:</a:t>
            </a:r>
          </a:p>
          <a:p>
            <a:pPr marL="0" indent="0">
              <a:buNone/>
            </a:pPr>
            <a:r>
              <a:rPr lang="en-US" sz="1800" dirty="0">
                <a:latin typeface="Times New Roman" pitchFamily="18" charset="0"/>
                <a:cs typeface="Times New Roman" pitchFamily="18" charset="0"/>
              </a:rPr>
              <a:t>•   Sensors and devices collect real-time data on soil quality, temperature, humidity,     pollution levels, air quality, and human health indicators.</a:t>
            </a:r>
          </a:p>
          <a:p>
            <a:pPr marL="0" indent="0">
              <a:buNone/>
            </a:pPr>
            <a:r>
              <a:rPr lang="en-US" sz="1800" dirty="0">
                <a:latin typeface="Times New Roman" pitchFamily="18" charset="0"/>
                <a:cs typeface="Times New Roman" pitchFamily="18" charset="0"/>
              </a:rPr>
              <a:t>•     Devices such as Raspberry Pi, Arduino, or ESP8266 are used as edge controllers.</a:t>
            </a:r>
          </a:p>
          <a:p>
            <a:pPr marL="0" indent="0">
              <a:buNone/>
            </a:pPr>
            <a:r>
              <a:rPr lang="en-US" sz="1800" dirty="0">
                <a:latin typeface="Times New Roman" pitchFamily="18" charset="0"/>
                <a:cs typeface="Times New Roman" pitchFamily="18" charset="0"/>
              </a:rPr>
              <a:t>•     Data is transmitted through Wi-Fi, LoRa, or GSM modules. Network Layer </a:t>
            </a:r>
          </a:p>
          <a:p>
            <a:pPr marL="0" indent="0">
              <a:buNone/>
            </a:pPr>
            <a:r>
              <a:rPr lang="en-US" sz="1800" dirty="0">
                <a:latin typeface="Times New Roman" pitchFamily="18" charset="0"/>
                <a:cs typeface="Times New Roman" pitchFamily="18" charset="0"/>
              </a:rPr>
              <a:t>•     Ensures secure transmission of sensor data to the cloud.</a:t>
            </a:r>
          </a:p>
          <a:p>
            <a:pPr marL="0" indent="0">
              <a:buNone/>
            </a:pPr>
            <a:r>
              <a:rPr lang="en-US" sz="1800" dirty="0">
                <a:latin typeface="Times New Roman" pitchFamily="18" charset="0"/>
                <a:cs typeface="Times New Roman" pitchFamily="18" charset="0"/>
              </a:rPr>
              <a:t>•     Uses communication protocols like MQTT, HTTP, or CoAP for efficient data exchange.</a:t>
            </a:r>
          </a:p>
          <a:p>
            <a:pPr marL="0" indent="0">
              <a:buNone/>
            </a:pPr>
            <a:r>
              <a:rPr lang="en-US" sz="1800" dirty="0">
                <a:latin typeface="Times New Roman" pitchFamily="18" charset="0"/>
                <a:cs typeface="Times New Roman" pitchFamily="18" charset="0"/>
              </a:rPr>
              <a:t>•     Gateways or edge devices preprocess data before uploading.</a:t>
            </a:r>
          </a:p>
          <a:p>
            <a:pPr algn="just"/>
            <a:endParaRPr lang="en-US" sz="4500" dirty="0">
              <a:latin typeface="Times New Roman" pitchFamily="18" charset="0"/>
              <a:cs typeface="Times New Roman" pitchFamily="18" charset="0"/>
            </a:endParaRPr>
          </a:p>
          <a:p>
            <a:pPr marL="0" indent="0" algn="just">
              <a:buNone/>
            </a:pPr>
            <a:endParaRPr lang="en-US" altLang="en-US" sz="2400" dirty="0">
              <a:solidFill>
                <a:srgbClr val="0000FF"/>
              </a:solidFill>
            </a:endParaRPr>
          </a:p>
        </p:txBody>
      </p:sp>
      <p:sp>
        <p:nvSpPr>
          <p:cNvPr id="2" name="Date Placeholder 1"/>
          <p:cNvSpPr>
            <a:spLocks noGrp="1"/>
          </p:cNvSpPr>
          <p:nvPr>
            <p:ph type="dt" sz="half" idx="10"/>
          </p:nvPr>
        </p:nvSpPr>
        <p:spPr/>
        <p:txBody>
          <a:bodyPr/>
          <a:lstStyle/>
          <a:p>
            <a:pPr>
              <a:defRPr/>
            </a:pPr>
            <a:fld id="{758B3E99-CB2E-425E-8CED-51697BF29159}" type="datetime3">
              <a:rPr lang="en-US" smtClean="0"/>
              <a:t>8 November 2025</a:t>
            </a:fld>
            <a:endParaRPr lang="en-US" dirty="0"/>
          </a:p>
        </p:txBody>
      </p:sp>
      <p:sp>
        <p:nvSpPr>
          <p:cNvPr id="4" name="Footer Placeholder 3"/>
          <p:cNvSpPr>
            <a:spLocks noGrp="1"/>
          </p:cNvSpPr>
          <p:nvPr>
            <p:ph type="ftr" sz="quarter" idx="11"/>
          </p:nvPr>
        </p:nvSpPr>
        <p:spPr>
          <a:xfrm>
            <a:off x="2640013" y="4857750"/>
            <a:ext cx="5970587" cy="206375"/>
          </a:xfrm>
        </p:spPr>
        <p:txBody>
          <a:bodyPr/>
          <a:lstStyle/>
          <a:p>
            <a:pPr>
              <a:defRPr/>
            </a:pPr>
            <a:r>
              <a:rPr lang="en-US" dirty="0"/>
              <a:t>BATCH NO:          DEPARTMENT OF INFORMATION TECHNOLOGY </a:t>
            </a:r>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18</a:t>
            </a:fld>
            <a:endParaRPr lang="en-US" altLang="en-US"/>
          </a:p>
        </p:txBody>
      </p:sp>
      <p:sp>
        <p:nvSpPr>
          <p:cNvPr id="5" name="Rectangle 4"/>
          <p:cNvSpPr/>
          <p:nvPr/>
        </p:nvSpPr>
        <p:spPr>
          <a:xfrm>
            <a:off x="148777" y="791987"/>
            <a:ext cx="8777481" cy="442750"/>
          </a:xfrm>
          <a:prstGeom prst="rect">
            <a:avLst/>
          </a:prstGeom>
        </p:spPr>
        <p:txBody>
          <a:bodyPr wrap="square">
            <a:spAutoFit/>
          </a:bodyPr>
          <a:lstStyle/>
          <a:p>
            <a:pPr eaLnBrk="1" fontAlgn="auto" hangingPunct="1">
              <a:lnSpc>
                <a:spcPts val="3079"/>
              </a:lnSpc>
              <a:spcAft>
                <a:spcPts val="0"/>
              </a:spcAft>
              <a:defRPr/>
            </a:pPr>
            <a:endParaRPr lang="en-US" b="1" dirty="0">
              <a:solidFill>
                <a:srgbClr val="000000"/>
              </a:solidFill>
              <a:latin typeface="Open Sans Extra Bold"/>
              <a:ea typeface="Open Sans Extra Bold"/>
              <a:cs typeface="Open Sans Extra Bold"/>
              <a:sym typeface="Open Sans Extra Bo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8309FE-02CE-4B7E-82D2-6BB87CFA8CBD}"/>
              </a:ext>
            </a:extLst>
          </p:cNvPr>
          <p:cNvSpPr>
            <a:spLocks noGrp="1"/>
          </p:cNvSpPr>
          <p:nvPr>
            <p:ph idx="1"/>
          </p:nvPr>
        </p:nvSpPr>
        <p:spPr>
          <a:xfrm>
            <a:off x="102476" y="411876"/>
            <a:ext cx="8229600" cy="3394472"/>
          </a:xfrm>
        </p:spPr>
        <p:txBody>
          <a:bodyPr>
            <a:normAutofit fontScale="25000" lnSpcReduction="20000"/>
          </a:bodyPr>
          <a:lstStyle/>
          <a:p>
            <a:pPr marL="0" indent="0">
              <a:buNone/>
            </a:pPr>
            <a:r>
              <a:rPr lang="en-US" sz="3800" b="1" dirty="0"/>
              <a:t> </a:t>
            </a:r>
            <a:r>
              <a:rPr lang="en-US" sz="5500" b="1" dirty="0"/>
              <a:t>AI and Data Analytics Integration</a:t>
            </a:r>
            <a:r>
              <a:rPr lang="en-US" sz="3800" b="1" dirty="0"/>
              <a:t>:</a:t>
            </a:r>
          </a:p>
          <a:p>
            <a:r>
              <a:rPr lang="en-US" sz="7200" dirty="0"/>
              <a:t>Machine Learning Models:</a:t>
            </a:r>
          </a:p>
          <a:p>
            <a:r>
              <a:rPr lang="en-US" sz="7200" dirty="0"/>
              <a:t>Predictive algorithms (e.g., regression, random forest, or neural networks) forecast outcomes like air pollution, disease risk, or soil fertility.</a:t>
            </a:r>
          </a:p>
          <a:p>
            <a:r>
              <a:rPr lang="en-US" sz="7200" dirty="0"/>
              <a:t>Data Processing Pipeline:</a:t>
            </a:r>
          </a:p>
          <a:p>
            <a:pPr marL="0" indent="0">
              <a:buNone/>
            </a:pPr>
            <a:r>
              <a:rPr lang="en-US" sz="7200" dirty="0"/>
              <a:t>1.     Data cleaning and preprocessing</a:t>
            </a:r>
          </a:p>
          <a:p>
            <a:pPr marL="0" indent="0">
              <a:buNone/>
            </a:pPr>
            <a:r>
              <a:rPr lang="en-US" sz="7200" dirty="0"/>
              <a:t>2.     Feature extraction</a:t>
            </a:r>
          </a:p>
          <a:p>
            <a:pPr marL="0" indent="0">
              <a:buNone/>
            </a:pPr>
            <a:r>
              <a:rPr lang="en-US" sz="7200" dirty="0"/>
              <a:t>3.     Model training using historical datasets</a:t>
            </a:r>
          </a:p>
          <a:p>
            <a:pPr marL="0" indent="0">
              <a:buNone/>
            </a:pPr>
            <a:r>
              <a:rPr lang="en-US" sz="7200" dirty="0"/>
              <a:t>4.     Real-time inference and decision generation</a:t>
            </a:r>
          </a:p>
          <a:p>
            <a:pPr marL="0" indent="0">
              <a:buNone/>
            </a:pPr>
            <a:r>
              <a:rPr lang="en-US" sz="7200" b="1" dirty="0"/>
              <a:t>Outputs:</a:t>
            </a:r>
          </a:p>
          <a:p>
            <a:r>
              <a:rPr lang="en-US" sz="7200" dirty="0"/>
              <a:t>Predictive alerts for disease outbreaks</a:t>
            </a:r>
          </a:p>
          <a:p>
            <a:r>
              <a:rPr lang="en-US" sz="7200" dirty="0"/>
              <a:t>Land degradation reports</a:t>
            </a:r>
          </a:p>
          <a:p>
            <a:r>
              <a:rPr lang="en-US" sz="7200" dirty="0"/>
              <a:t>Smart recommendations for agriculture and health management</a:t>
            </a:r>
          </a:p>
        </p:txBody>
      </p:sp>
      <p:sp>
        <p:nvSpPr>
          <p:cNvPr id="4" name="Date Placeholder 3">
            <a:extLst>
              <a:ext uri="{FF2B5EF4-FFF2-40B4-BE49-F238E27FC236}">
                <a16:creationId xmlns:a16="http://schemas.microsoft.com/office/drawing/2014/main" id="{835B86B0-5CD7-4C5D-8D96-FA9A888C599E}"/>
              </a:ext>
            </a:extLst>
          </p:cNvPr>
          <p:cNvSpPr>
            <a:spLocks noGrp="1"/>
          </p:cNvSpPr>
          <p:nvPr>
            <p:ph type="dt" sz="half" idx="10"/>
          </p:nvPr>
        </p:nvSpPr>
        <p:spPr/>
        <p:txBody>
          <a:bodyPr/>
          <a:lstStyle/>
          <a:p>
            <a:pPr>
              <a:defRPr/>
            </a:pPr>
            <a:fld id="{BB9E9B86-2CF4-48B1-B6D7-BAFE5AD3290E}" type="datetime3">
              <a:rPr lang="en-US" smtClean="0"/>
              <a:t>8 November 2025</a:t>
            </a:fld>
            <a:endParaRPr lang="en-US" dirty="0"/>
          </a:p>
        </p:txBody>
      </p:sp>
      <p:sp>
        <p:nvSpPr>
          <p:cNvPr id="5" name="Footer Placeholder 4">
            <a:extLst>
              <a:ext uri="{FF2B5EF4-FFF2-40B4-BE49-F238E27FC236}">
                <a16:creationId xmlns:a16="http://schemas.microsoft.com/office/drawing/2014/main" id="{07455DC9-0894-424A-9C2A-B4AFCE47C308}"/>
              </a:ext>
            </a:extLst>
          </p:cNvPr>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a:extLst>
              <a:ext uri="{FF2B5EF4-FFF2-40B4-BE49-F238E27FC236}">
                <a16:creationId xmlns:a16="http://schemas.microsoft.com/office/drawing/2014/main" id="{F16855F7-10DE-4608-9B5E-162A82B5CF72}"/>
              </a:ext>
            </a:extLst>
          </p:cNvPr>
          <p:cNvSpPr>
            <a:spLocks noGrp="1"/>
          </p:cNvSpPr>
          <p:nvPr>
            <p:ph type="sldNum" sz="quarter" idx="12"/>
          </p:nvPr>
        </p:nvSpPr>
        <p:spPr/>
        <p:txBody>
          <a:bodyPr/>
          <a:lstStyle/>
          <a:p>
            <a:pPr>
              <a:defRPr/>
            </a:pPr>
            <a:fld id="{0E14ABD8-B1EB-4C07-9937-C8C4E38BDF00}" type="slidenum">
              <a:rPr lang="en-US" altLang="en-US" smtClean="0"/>
              <a:pPr>
                <a:defRPr/>
              </a:pPr>
              <a:t>19</a:t>
            </a:fld>
            <a:endParaRPr lang="en-US" altLang="en-US"/>
          </a:p>
        </p:txBody>
      </p:sp>
    </p:spTree>
    <p:extLst>
      <p:ext uri="{BB962C8B-B14F-4D97-AF65-F5344CB8AC3E}">
        <p14:creationId xmlns:p14="http://schemas.microsoft.com/office/powerpoint/2010/main" val="1984844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FFC000"/>
                </a:solidFill>
              </a:rPr>
              <a:t>Testing &amp; Validation</a:t>
            </a:r>
            <a:br>
              <a:rPr lang="en-IN" dirty="0"/>
            </a:br>
            <a:endParaRPr lang="en-IN" dirty="0"/>
          </a:p>
        </p:txBody>
      </p:sp>
      <p:sp>
        <p:nvSpPr>
          <p:cNvPr id="3" name="Content Placeholder 2"/>
          <p:cNvSpPr>
            <a:spLocks noGrp="1"/>
          </p:cNvSpPr>
          <p:nvPr>
            <p:ph idx="1"/>
          </p:nvPr>
        </p:nvSpPr>
        <p:spPr>
          <a:xfrm>
            <a:off x="450056" y="907257"/>
            <a:ext cx="8229600" cy="3394472"/>
          </a:xfrm>
        </p:spPr>
        <p:txBody>
          <a:bodyPr>
            <a:normAutofit fontScale="92500" lnSpcReduction="20000"/>
          </a:bodyPr>
          <a:lstStyle/>
          <a:p>
            <a:r>
              <a:rPr lang="en-US" sz="2800" dirty="0"/>
              <a:t>Testing involves validating sensor accuracy, cloud data latency, and AI prediction reliability. Performance metrics include:</a:t>
            </a:r>
          </a:p>
          <a:p>
            <a:r>
              <a:rPr lang="en-US" sz="2800" dirty="0"/>
              <a:t>- Sensor accuracy (±2%)</a:t>
            </a:r>
          </a:p>
          <a:p>
            <a:r>
              <a:rPr lang="en-US" sz="2800" dirty="0"/>
              <a:t>- Cloud data sync rate &gt; 95%</a:t>
            </a:r>
          </a:p>
          <a:p>
            <a:r>
              <a:rPr lang="en-US" sz="2800" dirty="0"/>
              <a:t>- Model accuracy &gt; 90%</a:t>
            </a:r>
          </a:p>
          <a:p>
            <a:r>
              <a:rPr lang="en-US" sz="2800" dirty="0"/>
              <a:t>- Response latency &lt; 2s</a:t>
            </a:r>
          </a:p>
          <a:p>
            <a:r>
              <a:rPr lang="en-US" sz="2800" dirty="0"/>
              <a:t>Simulated datasets and real-world sensor data were used for model validation.</a:t>
            </a:r>
          </a:p>
        </p:txBody>
      </p:sp>
      <p:sp>
        <p:nvSpPr>
          <p:cNvPr id="4" name="Date Placeholder 3"/>
          <p:cNvSpPr>
            <a:spLocks noGrp="1"/>
          </p:cNvSpPr>
          <p:nvPr>
            <p:ph type="dt" sz="half" idx="10"/>
          </p:nvPr>
        </p:nvSpPr>
        <p:spPr/>
        <p:txBody>
          <a:bodyPr/>
          <a:lstStyle/>
          <a:p>
            <a:pPr>
              <a:defRPr/>
            </a:pPr>
            <a:fld id="{BB9E9B86-2CF4-48B1-B6D7-BAFE5AD3290E}" type="datetime3">
              <a:rPr lang="en-US" smtClean="0"/>
              <a:t>8 November 2025</a:t>
            </a:fld>
            <a:endParaRPr lang="en-US" dirty="0"/>
          </a:p>
        </p:txBody>
      </p:sp>
      <p:sp>
        <p:nvSpPr>
          <p:cNvPr id="5" name="Footer Placeholder 4"/>
          <p:cNvSpPr>
            <a:spLocks noGrp="1"/>
          </p:cNvSpPr>
          <p:nvPr>
            <p:ph type="ftr" sz="quarter" idx="11"/>
          </p:nvPr>
        </p:nvSpPr>
        <p:spPr>
          <a:xfrm>
            <a:off x="457200" y="4767264"/>
            <a:ext cx="8229600" cy="273844"/>
          </a:xfrm>
        </p:spPr>
        <p:txBody>
          <a:bodyPr/>
          <a:lstStyle/>
          <a:p>
            <a:pPr>
              <a:defRPr/>
            </a:pPr>
            <a:r>
              <a:rPr lang="en-US" dirty="0"/>
              <a:t>                   BATCH NO:                         DEPARTMENT OF INFORMATION TECHNOLOGY  </a:t>
            </a:r>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pPr>
                <a:defRPr/>
              </a:pPr>
              <a:t>20</a:t>
            </a:fld>
            <a:endParaRPr lang="en-US" altLang="en-US"/>
          </a:p>
        </p:txBody>
      </p:sp>
    </p:spTree>
    <p:extLst>
      <p:ext uri="{BB962C8B-B14F-4D97-AF65-F5344CB8AC3E}">
        <p14:creationId xmlns:p14="http://schemas.microsoft.com/office/powerpoint/2010/main" val="81134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500" dirty="0">
                <a:solidFill>
                  <a:srgbClr val="FFC000"/>
                </a:solidFill>
              </a:rPr>
              <a:t>Preliminary Results &amp; Analysis</a:t>
            </a:r>
            <a:br>
              <a:rPr lang="en-IN" sz="3500" dirty="0">
                <a:solidFill>
                  <a:srgbClr val="FFC000"/>
                </a:solidFill>
              </a:rPr>
            </a:br>
            <a:endParaRPr lang="en-IN" sz="3500" dirty="0">
              <a:solidFill>
                <a:srgbClr val="FFC000"/>
              </a:solidFill>
            </a:endParaRPr>
          </a:p>
        </p:txBody>
      </p:sp>
      <p:sp>
        <p:nvSpPr>
          <p:cNvPr id="3" name="Content Placeholder 2"/>
          <p:cNvSpPr>
            <a:spLocks noGrp="1"/>
          </p:cNvSpPr>
          <p:nvPr>
            <p:ph idx="1"/>
          </p:nvPr>
        </p:nvSpPr>
        <p:spPr>
          <a:xfrm>
            <a:off x="450057" y="871539"/>
            <a:ext cx="8229600" cy="3394472"/>
          </a:xfrm>
        </p:spPr>
        <p:txBody>
          <a:bodyPr>
            <a:normAutofit fontScale="55000" lnSpcReduction="20000"/>
          </a:bodyPr>
          <a:lstStyle/>
          <a:p>
            <a:pPr marL="0" indent="0" algn="just">
              <a:buNone/>
            </a:pPr>
            <a:r>
              <a:rPr lang="en-US" altLang="en-US" b="1" dirty="0">
                <a:latin typeface="Arial" pitchFamily="34" charset="0"/>
                <a:cs typeface="Arial" pitchFamily="34" charset="0"/>
              </a:rPr>
              <a:t>Performance Metrics: </a:t>
            </a:r>
          </a:p>
          <a:p>
            <a:pPr algn="just"/>
            <a:r>
              <a:rPr lang="en-US" altLang="en-US" dirty="0">
                <a:latin typeface="Arial" pitchFamily="34" charset="0"/>
                <a:cs typeface="Arial" pitchFamily="34" charset="0"/>
              </a:rPr>
              <a:t>The integrated AI–IoT system successfully collected and transmitted real-time data from sensors (air, soil, humidity, and temperature) to the cloud with ~99.5% reliability.</a:t>
            </a:r>
          </a:p>
          <a:p>
            <a:pPr algn="just"/>
            <a:endParaRPr lang="en-US" altLang="en-US" dirty="0">
              <a:latin typeface="Arial" pitchFamily="34" charset="0"/>
              <a:cs typeface="Arial" pitchFamily="34" charset="0"/>
            </a:endParaRPr>
          </a:p>
          <a:p>
            <a:pPr marL="0" indent="0" algn="just">
              <a:buNone/>
            </a:pPr>
            <a:r>
              <a:rPr lang="en-US" altLang="en-US" b="1" dirty="0">
                <a:latin typeface="Arial" pitchFamily="34" charset="0"/>
                <a:cs typeface="Arial" pitchFamily="34" charset="0"/>
              </a:rPr>
              <a:t>Qualitative Analysis:</a:t>
            </a:r>
            <a:endParaRPr lang="en-US" altLang="en-US" dirty="0">
              <a:latin typeface="Arial" pitchFamily="34" charset="0"/>
              <a:cs typeface="Arial" pitchFamily="34" charset="0"/>
            </a:endParaRPr>
          </a:p>
          <a:p>
            <a:pPr algn="just"/>
            <a:r>
              <a:rPr lang="en-US" altLang="en-US" dirty="0">
                <a:latin typeface="Arial" pitchFamily="34" charset="0"/>
                <a:cs typeface="Arial" pitchFamily="34" charset="0"/>
              </a:rPr>
              <a:t>The system effectively identified patterns in air quality and soil conditions, helping to detect land degradation and potential health risks.</a:t>
            </a:r>
          </a:p>
          <a:p>
            <a:pPr algn="just"/>
            <a:endParaRPr lang="en-US" altLang="en-US" b="1" dirty="0">
              <a:latin typeface="Arial" pitchFamily="34" charset="0"/>
              <a:cs typeface="Arial" pitchFamily="34" charset="0"/>
            </a:endParaRPr>
          </a:p>
          <a:p>
            <a:pPr marL="0" indent="0" algn="just">
              <a:buNone/>
            </a:pPr>
            <a:r>
              <a:rPr lang="en-US" altLang="en-US" b="1" dirty="0">
                <a:latin typeface="Arial" pitchFamily="34" charset="0"/>
                <a:cs typeface="Arial" pitchFamily="34" charset="0"/>
              </a:rPr>
              <a:t>Model Accuracy:</a:t>
            </a:r>
            <a:endParaRPr lang="en-US" dirty="0"/>
          </a:p>
          <a:p>
            <a:pPr algn="just"/>
            <a:r>
              <a:rPr lang="en-US" dirty="0"/>
              <a:t>Machine learning models achieved 85–92% prediction accuracy for pollution and soil-moisture forecasting.</a:t>
            </a:r>
            <a:endParaRPr lang="en-IN" dirty="0"/>
          </a:p>
        </p:txBody>
      </p:sp>
      <p:sp>
        <p:nvSpPr>
          <p:cNvPr id="4" name="Date Placeholder 3"/>
          <p:cNvSpPr>
            <a:spLocks noGrp="1"/>
          </p:cNvSpPr>
          <p:nvPr>
            <p:ph type="dt" sz="half" idx="10"/>
          </p:nvPr>
        </p:nvSpPr>
        <p:spPr/>
        <p:txBody>
          <a:bodyPr/>
          <a:lstStyle/>
          <a:p>
            <a:pPr>
              <a:defRPr/>
            </a:pPr>
            <a:fld id="{BB9E9B86-2CF4-48B1-B6D7-BAFE5AD3290E}" type="datetime3">
              <a:rPr lang="en-US" smtClean="0"/>
              <a:t>8 November 2025</a:t>
            </a:fld>
            <a:endParaRPr lang="en-US" dirty="0"/>
          </a:p>
        </p:txBody>
      </p:sp>
      <p:sp>
        <p:nvSpPr>
          <p:cNvPr id="5" name="Footer Placeholder 4"/>
          <p:cNvSpPr>
            <a:spLocks noGrp="1"/>
          </p:cNvSpPr>
          <p:nvPr>
            <p:ph type="ftr" sz="quarter" idx="11"/>
          </p:nvPr>
        </p:nvSpPr>
        <p:spPr>
          <a:xfrm>
            <a:off x="450057" y="4767264"/>
            <a:ext cx="8236743" cy="273844"/>
          </a:xfrm>
        </p:spPr>
        <p:txBody>
          <a:bodyPr/>
          <a:lstStyle/>
          <a:p>
            <a:pPr>
              <a:defRPr/>
            </a:pPr>
            <a:r>
              <a:rPr lang="en-US" dirty="0"/>
              <a:t>                                 BATCH NO:          DEPARTMENT OF INFORMATION TECHNOLOGY </a:t>
            </a:r>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pPr>
                <a:defRPr/>
              </a:pPr>
              <a:t>21</a:t>
            </a:fld>
            <a:endParaRPr lang="en-US" altLang="en-US"/>
          </a:p>
        </p:txBody>
      </p:sp>
    </p:spTree>
    <p:extLst>
      <p:ext uri="{BB962C8B-B14F-4D97-AF65-F5344CB8AC3E}">
        <p14:creationId xmlns:p14="http://schemas.microsoft.com/office/powerpoint/2010/main" val="6011142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chor="ctr" anchorCtr="1">
            <a:noAutofit/>
          </a:bodyPr>
          <a:lstStyle/>
          <a:p>
            <a:pPr algn="ctr">
              <a:defRPr/>
            </a:pPr>
            <a:r>
              <a:rPr lang="en-US" altLang="en-US" sz="3500" dirty="0">
                <a:solidFill>
                  <a:srgbClr val="FFC000"/>
                </a:solidFill>
              </a:rPr>
              <a:t>Software &amp; Hardware Requirements  Specification </a:t>
            </a:r>
            <a:br>
              <a:rPr lang="en-US" altLang="en-US" sz="3500" dirty="0">
                <a:solidFill>
                  <a:srgbClr val="FFC000"/>
                </a:solidFill>
              </a:rPr>
            </a:br>
            <a:endParaRPr lang="en-US" altLang="en-US" sz="3500" dirty="0">
              <a:solidFill>
                <a:srgbClr val="FFC000"/>
              </a:solidFill>
            </a:endParaRPr>
          </a:p>
        </p:txBody>
      </p:sp>
      <p:sp>
        <p:nvSpPr>
          <p:cNvPr id="2" name="Date Placeholder 1"/>
          <p:cNvSpPr>
            <a:spLocks noGrp="1"/>
          </p:cNvSpPr>
          <p:nvPr>
            <p:ph type="dt" sz="half" idx="10"/>
          </p:nvPr>
        </p:nvSpPr>
        <p:spPr/>
        <p:txBody>
          <a:bodyPr/>
          <a:lstStyle/>
          <a:p>
            <a:pPr>
              <a:defRPr/>
            </a:pPr>
            <a:fld id="{02A9E7BC-88D7-4AEC-8A80-D9F328442F02}" type="datetime3">
              <a:rPr lang="en-US" smtClean="0"/>
              <a:t>8 November 2025</a:t>
            </a:fld>
            <a:endParaRPr lang="en-US" dirty="0"/>
          </a:p>
        </p:txBody>
      </p:sp>
      <p:sp>
        <p:nvSpPr>
          <p:cNvPr id="4" name="Footer Placeholder 3"/>
          <p:cNvSpPr>
            <a:spLocks noGrp="1"/>
          </p:cNvSpPr>
          <p:nvPr>
            <p:ph type="ftr" sz="quarter" idx="11"/>
          </p:nvPr>
        </p:nvSpPr>
        <p:spPr>
          <a:xfrm>
            <a:off x="2640013" y="4857750"/>
            <a:ext cx="5929023" cy="206375"/>
          </a:xfrm>
        </p:spPr>
        <p:txBody>
          <a:bodyPr/>
          <a:lstStyle/>
          <a:p>
            <a:pPr>
              <a:defRPr/>
            </a:pPr>
            <a:r>
              <a:rPr lang="en-US" dirty="0"/>
              <a:t>BATCH NO:          DEPARTMENT OF INFORMATION TECHNOLOGY</a:t>
            </a:r>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22</a:t>
            </a:fld>
            <a:endParaRPr lang="en-US" altLang="en-US"/>
          </a:p>
        </p:txBody>
      </p:sp>
      <p:sp>
        <p:nvSpPr>
          <p:cNvPr id="6" name="Content Placeholder 5">
            <a:extLst>
              <a:ext uri="{FF2B5EF4-FFF2-40B4-BE49-F238E27FC236}">
                <a16:creationId xmlns:a16="http://schemas.microsoft.com/office/drawing/2014/main" id="{76177D96-7D31-4404-8DD7-38E9DBC1266E}"/>
              </a:ext>
            </a:extLst>
          </p:cNvPr>
          <p:cNvSpPr>
            <a:spLocks noGrp="1"/>
          </p:cNvSpPr>
          <p:nvPr>
            <p:ph idx="1"/>
          </p:nvPr>
        </p:nvSpPr>
        <p:spPr>
          <a:xfrm>
            <a:off x="95069" y="851338"/>
            <a:ext cx="8914923" cy="3696849"/>
          </a:xfrm>
        </p:spPr>
        <p:txBody>
          <a:bodyPr>
            <a:normAutofit/>
          </a:bodyPr>
          <a:lstStyle/>
          <a:p>
            <a:pPr marL="0" indent="0">
              <a:buNone/>
            </a:pPr>
            <a:r>
              <a:rPr lang="en-US" sz="1800" b="1" dirty="0"/>
              <a:t>Hardware Requirements:</a:t>
            </a:r>
          </a:p>
          <a:p>
            <a:r>
              <a:rPr lang="en-US" sz="1800" b="1" dirty="0"/>
              <a:t>Microcontroller: </a:t>
            </a:r>
            <a:r>
              <a:rPr lang="en-US" sz="1800" dirty="0"/>
              <a:t>Arduino Uno / Raspberry Pi (Interface for IoT sensors and data </a:t>
            </a:r>
            <a:r>
              <a:rPr lang="en-US" sz="1800" dirty="0" err="1"/>
              <a:t>procssing</a:t>
            </a:r>
            <a:endParaRPr lang="en-US" sz="1800" dirty="0"/>
          </a:p>
          <a:p>
            <a:r>
              <a:rPr lang="en-US" sz="1800" b="1" dirty="0"/>
              <a:t>Sensors: </a:t>
            </a:r>
            <a:r>
              <a:rPr lang="en-US" sz="1800" dirty="0"/>
              <a:t> DHT11/DHT22 (Temperature &amp; Humidity), MQ135 (Air Quality), Soil Moisture Sensor, LDR </a:t>
            </a:r>
          </a:p>
          <a:p>
            <a:r>
              <a:rPr lang="en-US" sz="1800" b="1" dirty="0"/>
              <a:t>Power Supply:</a:t>
            </a:r>
            <a:r>
              <a:rPr lang="en-US" sz="1800" dirty="0"/>
              <a:t>5V–12V DC adapter / Battery pack </a:t>
            </a:r>
          </a:p>
          <a:p>
            <a:r>
              <a:rPr lang="en-US" sz="1800" b="1" dirty="0"/>
              <a:t>Communication Module: </a:t>
            </a:r>
            <a:r>
              <a:rPr lang="en-US" sz="1800" dirty="0"/>
              <a:t>Wi-Fi (ESP8266) / GSM / LoRa</a:t>
            </a:r>
          </a:p>
          <a:p>
            <a:r>
              <a:rPr lang="en-US" sz="1800" b="1" dirty="0"/>
              <a:t>Gateway/Edge Device: </a:t>
            </a:r>
            <a:r>
              <a:rPr lang="en-US" sz="1800" dirty="0"/>
              <a:t>Raspberry Pi / </a:t>
            </a:r>
            <a:r>
              <a:rPr lang="en-US" sz="1800" dirty="0" err="1"/>
              <a:t>NodeMCU</a:t>
            </a:r>
            <a:endParaRPr lang="en-US" sz="1800" dirty="0"/>
          </a:p>
          <a:p>
            <a:r>
              <a:rPr lang="en-US" sz="1800" b="1" dirty="0"/>
              <a:t>Actuators: </a:t>
            </a:r>
            <a:r>
              <a:rPr lang="en-US" sz="1800" dirty="0"/>
              <a:t>Relay, Motor, Pump </a:t>
            </a:r>
          </a:p>
          <a:p>
            <a:r>
              <a:rPr lang="en-US" sz="1800" b="1" dirty="0"/>
              <a:t>Display: </a:t>
            </a:r>
            <a:r>
              <a:rPr lang="en-US" sz="1800" dirty="0"/>
              <a:t>16x2 LCD / OLED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71E2ED-8CB4-4AD9-BCDF-C52D74E358FB}"/>
              </a:ext>
            </a:extLst>
          </p:cNvPr>
          <p:cNvSpPr>
            <a:spLocks noGrp="1"/>
          </p:cNvSpPr>
          <p:nvPr>
            <p:ph idx="1"/>
          </p:nvPr>
        </p:nvSpPr>
        <p:spPr>
          <a:xfrm>
            <a:off x="346842" y="268014"/>
            <a:ext cx="8229600" cy="3885175"/>
          </a:xfrm>
        </p:spPr>
        <p:txBody>
          <a:bodyPr>
            <a:normAutofit/>
          </a:bodyPr>
          <a:lstStyle/>
          <a:p>
            <a:pPr marL="0" indent="0">
              <a:buNone/>
            </a:pPr>
            <a:r>
              <a:rPr lang="en-US" sz="1800" b="1" dirty="0"/>
              <a:t>Software Requirements:</a:t>
            </a:r>
          </a:p>
          <a:p>
            <a:r>
              <a:rPr lang="en-US" sz="1800" b="1" dirty="0"/>
              <a:t>Operating System: </a:t>
            </a:r>
            <a:r>
              <a:rPr lang="en-US" sz="1800" dirty="0"/>
              <a:t>Windows / Linux (for development and deployment)</a:t>
            </a:r>
          </a:p>
          <a:p>
            <a:r>
              <a:rPr lang="en-US" sz="1800" b="1" dirty="0"/>
              <a:t>Programming Languages: </a:t>
            </a:r>
            <a:r>
              <a:rPr lang="en-US" sz="1800" dirty="0"/>
              <a:t>Python, C/C++ (Arduino), JavaScript (for dashboards)</a:t>
            </a:r>
          </a:p>
          <a:p>
            <a:r>
              <a:rPr lang="en-US" sz="1800" b="1" dirty="0"/>
              <a:t>IoT Platform: </a:t>
            </a:r>
            <a:r>
              <a:rPr lang="en-US" sz="1800" dirty="0" err="1"/>
              <a:t>ThingSpeak</a:t>
            </a:r>
            <a:r>
              <a:rPr lang="en-US" sz="1800" dirty="0"/>
              <a:t> / Blynk / AWS IoT Core / Google Cloud IoT</a:t>
            </a:r>
          </a:p>
          <a:p>
            <a:r>
              <a:rPr lang="en-US" sz="1800" b="1" dirty="0"/>
              <a:t>Database: </a:t>
            </a:r>
            <a:r>
              <a:rPr lang="en-US" sz="1800" dirty="0"/>
              <a:t>Firebase / MySQL / MongoDB (for data storage)</a:t>
            </a:r>
          </a:p>
          <a:p>
            <a:r>
              <a:rPr lang="en-US" sz="1800" b="1" dirty="0"/>
              <a:t>AI &amp; ML Libraries: </a:t>
            </a:r>
            <a:r>
              <a:rPr lang="en-US" sz="1800" dirty="0"/>
              <a:t>TensorFlow, Scikit-learn, Pandas, NumPy</a:t>
            </a:r>
          </a:p>
          <a:p>
            <a:r>
              <a:rPr lang="en-US" sz="1800" b="1" dirty="0"/>
              <a:t>Data Visualization Tools: </a:t>
            </a:r>
            <a:r>
              <a:rPr lang="en-US" sz="1800" dirty="0"/>
              <a:t>Power BI, Grafana, Matplotlib</a:t>
            </a:r>
          </a:p>
          <a:p>
            <a:r>
              <a:rPr lang="en-US" sz="1800" b="1" dirty="0"/>
              <a:t>IDE / Tools: </a:t>
            </a:r>
            <a:r>
              <a:rPr lang="en-US" sz="1800" dirty="0"/>
              <a:t>Arduino IDE, Visual Studio Code, </a:t>
            </a:r>
            <a:r>
              <a:rPr lang="en-US" sz="1800" dirty="0" err="1"/>
              <a:t>Jupyter</a:t>
            </a:r>
            <a:r>
              <a:rPr lang="en-US" sz="1800" dirty="0"/>
              <a:t> Notebook</a:t>
            </a:r>
          </a:p>
        </p:txBody>
      </p:sp>
      <p:sp>
        <p:nvSpPr>
          <p:cNvPr id="4" name="Date Placeholder 3">
            <a:extLst>
              <a:ext uri="{FF2B5EF4-FFF2-40B4-BE49-F238E27FC236}">
                <a16:creationId xmlns:a16="http://schemas.microsoft.com/office/drawing/2014/main" id="{53F1C972-788B-485C-81FE-68A9297F0546}"/>
              </a:ext>
            </a:extLst>
          </p:cNvPr>
          <p:cNvSpPr>
            <a:spLocks noGrp="1"/>
          </p:cNvSpPr>
          <p:nvPr>
            <p:ph type="dt" sz="half" idx="10"/>
          </p:nvPr>
        </p:nvSpPr>
        <p:spPr/>
        <p:txBody>
          <a:bodyPr/>
          <a:lstStyle/>
          <a:p>
            <a:pPr>
              <a:defRPr/>
            </a:pPr>
            <a:fld id="{BB9E9B86-2CF4-48B1-B6D7-BAFE5AD3290E}" type="datetime3">
              <a:rPr lang="en-US" smtClean="0"/>
              <a:t>8 November 2025</a:t>
            </a:fld>
            <a:endParaRPr lang="en-US" dirty="0"/>
          </a:p>
        </p:txBody>
      </p:sp>
      <p:sp>
        <p:nvSpPr>
          <p:cNvPr id="5" name="Footer Placeholder 4">
            <a:extLst>
              <a:ext uri="{FF2B5EF4-FFF2-40B4-BE49-F238E27FC236}">
                <a16:creationId xmlns:a16="http://schemas.microsoft.com/office/drawing/2014/main" id="{9817D07E-11C3-4DEF-A4DB-4D4523C9A713}"/>
              </a:ext>
            </a:extLst>
          </p:cNvPr>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6" name="Slide Number Placeholder 5">
            <a:extLst>
              <a:ext uri="{FF2B5EF4-FFF2-40B4-BE49-F238E27FC236}">
                <a16:creationId xmlns:a16="http://schemas.microsoft.com/office/drawing/2014/main" id="{782027B8-719C-4908-B019-7C2723BB8CB0}"/>
              </a:ext>
            </a:extLst>
          </p:cNvPr>
          <p:cNvSpPr>
            <a:spLocks noGrp="1"/>
          </p:cNvSpPr>
          <p:nvPr>
            <p:ph type="sldNum" sz="quarter" idx="12"/>
          </p:nvPr>
        </p:nvSpPr>
        <p:spPr/>
        <p:txBody>
          <a:bodyPr/>
          <a:lstStyle/>
          <a:p>
            <a:pPr>
              <a:defRPr/>
            </a:pPr>
            <a:fld id="{0E14ABD8-B1EB-4C07-9937-C8C4E38BDF00}" type="slidenum">
              <a:rPr lang="en-US" altLang="en-US" smtClean="0"/>
              <a:pPr>
                <a:defRPr/>
              </a:pPr>
              <a:t>23</a:t>
            </a:fld>
            <a:endParaRPr lang="en-US" altLang="en-US"/>
          </a:p>
        </p:txBody>
      </p:sp>
    </p:spTree>
    <p:extLst>
      <p:ext uri="{BB962C8B-B14F-4D97-AF65-F5344CB8AC3E}">
        <p14:creationId xmlns:p14="http://schemas.microsoft.com/office/powerpoint/2010/main" val="19225331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lgn="ctr">
              <a:defRPr/>
            </a:pPr>
            <a:r>
              <a:rPr lang="en-US" altLang="en-US" dirty="0">
                <a:solidFill>
                  <a:srgbClr val="FFC000"/>
                </a:solidFill>
              </a:rPr>
              <a:t>Conclusion and Future Work</a:t>
            </a:r>
          </a:p>
        </p:txBody>
      </p:sp>
      <p:sp>
        <p:nvSpPr>
          <p:cNvPr id="22531" name="Rectangle 3"/>
          <p:cNvSpPr>
            <a:spLocks noGrp="1"/>
          </p:cNvSpPr>
          <p:nvPr>
            <p:ph idx="1"/>
          </p:nvPr>
        </p:nvSpPr>
        <p:spPr>
          <a:xfrm>
            <a:off x="457200" y="1200150"/>
            <a:ext cx="8229600" cy="3581400"/>
          </a:xfrm>
        </p:spPr>
        <p:txBody>
          <a:bodyPr/>
          <a:lstStyle/>
          <a:p>
            <a:pPr>
              <a:buNone/>
            </a:pPr>
            <a:endParaRPr lang="en-US" sz="1200" dirty="0">
              <a:latin typeface="Times New Roman" pitchFamily="18" charset="0"/>
              <a:cs typeface="Times New Roman" pitchFamily="18" charset="0"/>
            </a:endParaRPr>
          </a:p>
          <a:p>
            <a:pPr>
              <a:buAutoNum type="arabicPeriod" startAt="5"/>
            </a:pPr>
            <a:endParaRPr lang="en-US" sz="1200" dirty="0">
              <a:latin typeface="Times New Roman" pitchFamily="18" charset="0"/>
              <a:cs typeface="Times New Roman" pitchFamily="18" charset="0"/>
            </a:endParaRPr>
          </a:p>
          <a:p>
            <a:pPr>
              <a:buAutoNum type="arabicPeriod" startAt="5"/>
            </a:pPr>
            <a:endParaRPr lang="en-US" sz="1200" dirty="0">
              <a:latin typeface="Times New Roman" pitchFamily="18" charset="0"/>
              <a:cs typeface="Times New Roman" pitchFamily="18" charset="0"/>
            </a:endParaRPr>
          </a:p>
          <a:p>
            <a:pPr>
              <a:buNone/>
            </a:pPr>
            <a:endParaRPr lang="en-US" sz="1200" dirty="0">
              <a:latin typeface="Times New Roman" pitchFamily="18" charset="0"/>
              <a:cs typeface="Times New Roman" pitchFamily="18" charset="0"/>
            </a:endParaRPr>
          </a:p>
          <a:p>
            <a:pPr>
              <a:buNone/>
            </a:pPr>
            <a:endParaRPr lang="en-US" sz="1200" dirty="0">
              <a:latin typeface="Times New Roman" pitchFamily="18" charset="0"/>
              <a:cs typeface="Times New Roman" pitchFamily="18" charset="0"/>
            </a:endParaRPr>
          </a:p>
          <a:p>
            <a:pPr>
              <a:buNone/>
            </a:pPr>
            <a:endParaRPr lang="en-US" sz="1200" dirty="0">
              <a:latin typeface="Times New Roman" pitchFamily="18" charset="0"/>
              <a:cs typeface="Times New Roman" pitchFamily="18" charset="0"/>
            </a:endParaRPr>
          </a:p>
          <a:p>
            <a:pPr>
              <a:spcBef>
                <a:spcPct val="30000"/>
              </a:spcBef>
              <a:spcAft>
                <a:spcPct val="30000"/>
              </a:spcAft>
            </a:pPr>
            <a:endParaRPr lang="en-US" altLang="en-US" sz="1800" dirty="0">
              <a:solidFill>
                <a:srgbClr val="0000FF"/>
              </a:solidFill>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pPr>
              <a:defRPr/>
            </a:pPr>
            <a:fld id="{C163FE90-D020-4B3E-8B4D-100D42E03330}" type="datetime3">
              <a:rPr lang="en-US" smtClean="0"/>
              <a:t>8 November 2025</a:t>
            </a:fld>
            <a:endParaRPr lang="en-US" dirty="0"/>
          </a:p>
        </p:txBody>
      </p:sp>
      <p:sp>
        <p:nvSpPr>
          <p:cNvPr id="4" name="Footer Placeholder 3"/>
          <p:cNvSpPr>
            <a:spLocks noGrp="1"/>
          </p:cNvSpPr>
          <p:nvPr>
            <p:ph type="ftr" sz="quarter" idx="11"/>
          </p:nvPr>
        </p:nvSpPr>
        <p:spPr>
          <a:xfrm>
            <a:off x="2640013" y="4857750"/>
            <a:ext cx="5977514" cy="206375"/>
          </a:xfrm>
        </p:spPr>
        <p:txBody>
          <a:bodyPr/>
          <a:lstStyle/>
          <a:p>
            <a:pPr>
              <a:defRPr/>
            </a:pPr>
            <a:r>
              <a:rPr lang="en-US" dirty="0"/>
              <a:t>BATCH NO:          DEPARTMENT OF INFORMATION TECHNOLOGY </a:t>
            </a:r>
          </a:p>
        </p:txBody>
      </p:sp>
      <p:sp>
        <p:nvSpPr>
          <p:cNvPr id="2253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00166CF0-84B4-4016-8045-F92C16523328}" type="slidenum">
              <a:rPr lang="en-US" altLang="en-US"/>
              <a:pPr/>
              <a:t>24</a:t>
            </a:fld>
            <a:endParaRPr lang="en-US" altLang="en-US"/>
          </a:p>
        </p:txBody>
      </p:sp>
      <p:sp>
        <p:nvSpPr>
          <p:cNvPr id="8" name="TextBox 7">
            <a:extLst>
              <a:ext uri="{FF2B5EF4-FFF2-40B4-BE49-F238E27FC236}">
                <a16:creationId xmlns:a16="http://schemas.microsoft.com/office/drawing/2014/main" id="{831D2B9E-BA27-4E2C-9C2F-605292F0468D}"/>
              </a:ext>
            </a:extLst>
          </p:cNvPr>
          <p:cNvSpPr txBox="1"/>
          <p:nvPr/>
        </p:nvSpPr>
        <p:spPr>
          <a:xfrm>
            <a:off x="268014" y="940591"/>
            <a:ext cx="8805041" cy="2308324"/>
          </a:xfrm>
          <a:prstGeom prst="rect">
            <a:avLst/>
          </a:prstGeom>
          <a:noFill/>
        </p:spPr>
        <p:txBody>
          <a:bodyPr wrap="square">
            <a:spAutoFit/>
          </a:bodyPr>
          <a:lstStyle/>
          <a:p>
            <a:pPr marL="285750" indent="-285750">
              <a:buFont typeface="Arial" panose="020B0604020202020204" pitchFamily="34" charset="0"/>
              <a:buChar char="•"/>
            </a:pPr>
            <a:r>
              <a:rPr lang="en-US" dirty="0"/>
              <a:t>The integration of Artificial Intelligence (AI), Internet of Things (IoT), and Cloud Computing has proven highly effective in enabling real-time monitoring, data-driven analysis, and predictive decision-making for sustainable land use and improved public health outcomes.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Results demonstrate strong accuracy, reliability, and scalability, highlighting the potential of this framework to assist urban planners, agricultural sectors, and health authorities in proactive resource and risk management.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IN" dirty="0">
                <a:solidFill>
                  <a:srgbClr val="FFC000"/>
                </a:solidFill>
              </a:rPr>
              <a:t>References</a:t>
            </a:r>
            <a:br>
              <a:rPr lang="en-IN" dirty="0">
                <a:solidFill>
                  <a:srgbClr val="FFC000"/>
                </a:solidFill>
              </a:rPr>
            </a:br>
            <a:endParaRPr lang="en-IN" dirty="0">
              <a:solidFill>
                <a:srgbClr val="FFC000"/>
              </a:solidFill>
            </a:endParaRPr>
          </a:p>
        </p:txBody>
      </p:sp>
      <p:sp>
        <p:nvSpPr>
          <p:cNvPr id="3" name="Content Placeholder 2"/>
          <p:cNvSpPr>
            <a:spLocks noGrp="1"/>
          </p:cNvSpPr>
          <p:nvPr>
            <p:ph idx="1"/>
          </p:nvPr>
        </p:nvSpPr>
        <p:spPr>
          <a:xfrm>
            <a:off x="260131" y="774482"/>
            <a:ext cx="8229600" cy="3394472"/>
          </a:xfrm>
        </p:spPr>
        <p:txBody>
          <a:bodyPr>
            <a:noAutofit/>
          </a:bodyPr>
          <a:lstStyle/>
          <a:p>
            <a:pPr marL="119062" indent="0">
              <a:buNone/>
            </a:pPr>
            <a:r>
              <a:rPr lang="en-IN" sz="1600" dirty="0"/>
              <a:t>Islam, M. M., and Bhuiyan, Z. A. (2023). An Integrated Scalable Framework for Cloud and IoT Based Green Healthcare System. IEEE Access. DOI: 10.1109/ACCESS.2023.3250849</a:t>
            </a:r>
          </a:p>
          <a:p>
            <a:pPr marL="119062" indent="0">
              <a:buNone/>
            </a:pPr>
            <a:r>
              <a:rPr lang="en-IN" sz="1600" dirty="0"/>
              <a:t>●Krishna, E. S. Phalguna, Sahoo, R., and Rao, A. T. (2024). IoT-Enabled Wireless Sensor Networks and Geospatial Technology for Urban Infrastructure Management. Journal of Electrical Systems, 20(2), 2395. Available: https://journal.esrgroups.org/jes/article/view/2395</a:t>
            </a:r>
          </a:p>
          <a:p>
            <a:pPr marL="119062" indent="0">
              <a:buNone/>
            </a:pPr>
            <a:r>
              <a:rPr lang="en-IN" sz="1600" dirty="0"/>
              <a:t>●</a:t>
            </a:r>
            <a:r>
              <a:rPr lang="en-IN" sz="1600" dirty="0" err="1"/>
              <a:t>Alahi</a:t>
            </a:r>
            <a:r>
              <a:rPr lang="en-IN" sz="1600" dirty="0"/>
              <a:t>, M. E. E., Mukhopadhyay, S. C., Burkitt, L., and Mirza, M. (2023). Integration of IoT-Enabled Technologies and Artificial Intelligence (AI) for Smart City Scenario: Recent Advancements and Future Trends. Sensors, 23(7), 3312. DOI: 10.3390/s23073312</a:t>
            </a:r>
          </a:p>
          <a:p>
            <a:pPr marL="119062" indent="0">
              <a:buNone/>
            </a:pPr>
            <a:r>
              <a:rPr lang="en-IN" sz="1600" dirty="0"/>
              <a:t>●Ortiz, G., </a:t>
            </a:r>
            <a:r>
              <a:rPr lang="en-IN" sz="1600" dirty="0" err="1"/>
              <a:t>Zouai</a:t>
            </a:r>
            <a:r>
              <a:rPr lang="en-IN" sz="1600" dirty="0"/>
              <a:t>, M., </a:t>
            </a:r>
            <a:r>
              <a:rPr lang="en-IN" sz="1600" dirty="0" err="1"/>
              <a:t>Kazar</a:t>
            </a:r>
            <a:r>
              <a:rPr lang="en-IN" sz="1600" dirty="0"/>
              <a:t>, O., Garcia-de-Prado, A., and </a:t>
            </a:r>
            <a:r>
              <a:rPr lang="en-IN" sz="1600" dirty="0" err="1"/>
              <a:t>Boubeta</a:t>
            </a:r>
            <a:r>
              <a:rPr lang="en-IN" sz="1600" dirty="0"/>
              <a:t>-Puig, J. (2024). Atmosphere: Context and Situational-Aware Collaborative IoT Architecture for Edge–Fog–Cloud Computing. </a:t>
            </a:r>
            <a:r>
              <a:rPr lang="en-IN" sz="1600" dirty="0" err="1"/>
              <a:t>arXiv</a:t>
            </a:r>
            <a:r>
              <a:rPr lang="en-IN" sz="1600" dirty="0"/>
              <a:t> preprint arXiv:2401.14968. Available: https://arxiv.org/abs/2401.14968</a:t>
            </a:r>
          </a:p>
          <a:p>
            <a:pPr marL="119062" indent="0">
              <a:buNone/>
            </a:pPr>
            <a:r>
              <a:rPr lang="en-IN" sz="1600" dirty="0"/>
              <a:t>●Al-Fuqaha, A., </a:t>
            </a:r>
            <a:r>
              <a:rPr lang="en-IN" sz="1600" dirty="0" err="1"/>
              <a:t>Guizani</a:t>
            </a:r>
            <a:r>
              <a:rPr lang="en-IN" sz="1600" dirty="0"/>
              <a:t>, M., Mohammadi, M., </a:t>
            </a:r>
            <a:r>
              <a:rPr lang="en-IN" sz="1600" dirty="0" err="1"/>
              <a:t>Aledhari</a:t>
            </a:r>
            <a:r>
              <a:rPr lang="en-IN" sz="1600" dirty="0"/>
              <a:t>, M., &amp; Ayyash, M. (2015). Internet of Things: A Survey on Enabling Technologies, Protocols, and Applications. IEEE Communications Surveys &amp; Tutorials, 17(4), 2347–2376. https://doi.org/10.1109/</a:t>
            </a:r>
          </a:p>
        </p:txBody>
      </p:sp>
      <p:sp>
        <p:nvSpPr>
          <p:cNvPr id="6" name="Date Placeholder 5"/>
          <p:cNvSpPr>
            <a:spLocks noGrp="1"/>
          </p:cNvSpPr>
          <p:nvPr>
            <p:ph type="dt" sz="half" idx="10"/>
          </p:nvPr>
        </p:nvSpPr>
        <p:spPr/>
        <p:txBody>
          <a:bodyPr/>
          <a:lstStyle/>
          <a:p>
            <a:pPr>
              <a:defRPr/>
            </a:pPr>
            <a:fld id="{C3AC3EE8-985B-42B6-9937-3D92CBED937D}" type="datetime3">
              <a:rPr lang="en-US" smtClean="0"/>
              <a:t>8 November 2025</a:t>
            </a:fld>
            <a:endParaRPr lang="en-US" dirty="0"/>
          </a:p>
        </p:txBody>
      </p:sp>
      <p:sp>
        <p:nvSpPr>
          <p:cNvPr id="8" name="Footer Placeholder 7"/>
          <p:cNvSpPr>
            <a:spLocks noGrp="1"/>
          </p:cNvSpPr>
          <p:nvPr>
            <p:ph type="ftr" sz="quarter" idx="11"/>
          </p:nvPr>
        </p:nvSpPr>
        <p:spPr>
          <a:xfrm>
            <a:off x="2640013" y="4857750"/>
            <a:ext cx="5963660" cy="206375"/>
          </a:xfrm>
        </p:spPr>
        <p:txBody>
          <a:bodyPr/>
          <a:lstStyle/>
          <a:p>
            <a:pPr>
              <a:defRPr/>
            </a:pPr>
            <a:r>
              <a:rPr lang="en-US" dirty="0"/>
              <a:t>BATCH NO:          DEPARTMENT OF INFORMATION TECHNOLOGY </a:t>
            </a:r>
          </a:p>
        </p:txBody>
      </p:sp>
      <p:sp>
        <p:nvSpPr>
          <p:cNvPr id="5" name="Slide Number Placeholder 4"/>
          <p:cNvSpPr>
            <a:spLocks noGrp="1"/>
          </p:cNvSpPr>
          <p:nvPr>
            <p:ph type="sldNum" sz="quarter" idx="12"/>
          </p:nvPr>
        </p:nvSpPr>
        <p:spPr/>
        <p:txBody>
          <a:bodyPr>
            <a:normAutofit lnSpcReduction="10000"/>
          </a:bodyPr>
          <a:lstStyle/>
          <a:p>
            <a:pPr>
              <a:defRPr/>
            </a:pPr>
            <a:fld id="{0E14ABD8-B1EB-4C07-9937-C8C4E38BDF00}" type="slidenum">
              <a:rPr lang="en-US" altLang="en-US" smtClean="0"/>
              <a:pPr>
                <a:defRPr/>
              </a:pPr>
              <a:t>25</a:t>
            </a:fld>
            <a:endParaRPr lang="en-US" altLang="en-US"/>
          </a:p>
        </p:txBody>
      </p:sp>
    </p:spTree>
    <p:extLst>
      <p:ext uri="{BB962C8B-B14F-4D97-AF65-F5344CB8AC3E}">
        <p14:creationId xmlns:p14="http://schemas.microsoft.com/office/powerpoint/2010/main" val="16534158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119062" indent="0" algn="ctr">
              <a:buNone/>
            </a:pPr>
            <a:endParaRPr lang="en-US" b="1" dirty="0"/>
          </a:p>
          <a:p>
            <a:pPr marL="119062" indent="0" algn="ctr">
              <a:buNone/>
            </a:pPr>
            <a:endParaRPr lang="en-US" b="1" dirty="0"/>
          </a:p>
          <a:p>
            <a:pPr marL="119062" indent="0" algn="ctr">
              <a:buNone/>
            </a:pPr>
            <a:endParaRPr lang="en-US" b="1" dirty="0"/>
          </a:p>
          <a:p>
            <a:pPr marL="119062" indent="0" algn="ctr">
              <a:buNone/>
            </a:pPr>
            <a:r>
              <a:rPr lang="en-US" b="1" dirty="0"/>
              <a:t>THANK YOU</a:t>
            </a:r>
            <a:endParaRPr lang="en-IN" b="1" dirty="0"/>
          </a:p>
        </p:txBody>
      </p:sp>
      <p:sp>
        <p:nvSpPr>
          <p:cNvPr id="6" name="Date Placeholder 5"/>
          <p:cNvSpPr>
            <a:spLocks noGrp="1"/>
          </p:cNvSpPr>
          <p:nvPr>
            <p:ph type="dt" sz="half" idx="10"/>
          </p:nvPr>
        </p:nvSpPr>
        <p:spPr/>
        <p:txBody>
          <a:bodyPr/>
          <a:lstStyle/>
          <a:p>
            <a:pPr>
              <a:defRPr/>
            </a:pPr>
            <a:fld id="{5AC31F9E-9B9F-4BF0-AFD1-DE8B874A094F}" type="datetime3">
              <a:rPr lang="en-US" smtClean="0"/>
              <a:t>8 November 2025</a:t>
            </a:fld>
            <a:endParaRPr lang="en-US" dirty="0"/>
          </a:p>
        </p:txBody>
      </p:sp>
      <p:sp>
        <p:nvSpPr>
          <p:cNvPr id="8" name="Footer Placeholder 7"/>
          <p:cNvSpPr>
            <a:spLocks noGrp="1"/>
          </p:cNvSpPr>
          <p:nvPr>
            <p:ph type="ftr" sz="quarter" idx="11"/>
          </p:nvPr>
        </p:nvSpPr>
        <p:spPr>
          <a:xfrm>
            <a:off x="2043545" y="4857750"/>
            <a:ext cx="6105093" cy="206375"/>
          </a:xfrm>
        </p:spPr>
        <p:txBody>
          <a:bodyPr/>
          <a:lstStyle/>
          <a:p>
            <a:pPr>
              <a:defRPr/>
            </a:pPr>
            <a:r>
              <a:rPr lang="en-US" dirty="0"/>
              <a:t>BATCH NO:          DEPARTMENT OF INFORMATION TECHNOLOGY</a:t>
            </a:r>
          </a:p>
        </p:txBody>
      </p:sp>
      <p:sp>
        <p:nvSpPr>
          <p:cNvPr id="5" name="Slide Number Placeholder 4"/>
          <p:cNvSpPr>
            <a:spLocks noGrp="1"/>
          </p:cNvSpPr>
          <p:nvPr>
            <p:ph type="sldNum" sz="quarter" idx="12"/>
          </p:nvPr>
        </p:nvSpPr>
        <p:spPr/>
        <p:txBody>
          <a:bodyPr>
            <a:normAutofit lnSpcReduction="10000"/>
          </a:bodyPr>
          <a:lstStyle/>
          <a:p>
            <a:pPr>
              <a:defRPr/>
            </a:pPr>
            <a:fld id="{0E14ABD8-B1EB-4C07-9937-C8C4E38BDF00}" type="slidenum">
              <a:rPr lang="en-US" altLang="en-US" smtClean="0"/>
              <a:pPr>
                <a:defRPr/>
              </a:pPr>
              <a:t>26</a:t>
            </a:fld>
            <a:endParaRPr lang="en-US" altLang="en-US"/>
          </a:p>
        </p:txBody>
      </p:sp>
    </p:spTree>
    <p:extLst>
      <p:ext uri="{BB962C8B-B14F-4D97-AF65-F5344CB8AC3E}">
        <p14:creationId xmlns:p14="http://schemas.microsoft.com/office/powerpoint/2010/main" val="39481092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276</TotalTime>
  <Words>2756</Words>
  <Application>Microsoft Office PowerPoint</Application>
  <PresentationFormat>On-screen Show (16:9)</PresentationFormat>
  <Paragraphs>289</Paragraphs>
  <Slides>26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Open Sans Extra Bold</vt:lpstr>
      <vt:lpstr>Poppins Bold</vt:lpstr>
      <vt:lpstr>Times New Roman</vt:lpstr>
      <vt:lpstr>Office Theme</vt:lpstr>
      <vt:lpstr>PowerPoint Presentation</vt:lpstr>
      <vt:lpstr>"Cloud-Enabled AI and IoT Integration for Smart Land Use and Public Health"</vt:lpstr>
      <vt:lpstr>Introduction</vt:lpstr>
      <vt:lpstr>PowerPoint Presentation</vt:lpstr>
      <vt:lpstr>PowerPoint Presentation</vt:lpstr>
      <vt:lpstr>Literature Survey </vt:lpstr>
      <vt:lpstr>Problem Statement</vt:lpstr>
      <vt:lpstr>PowerPoint Presentation</vt:lpstr>
      <vt:lpstr>PowerPoint Presentation</vt:lpstr>
      <vt:lpstr>Proposed Methodology</vt:lpstr>
      <vt:lpstr>PowerPoint Presentation</vt:lpstr>
      <vt:lpstr>PowerPoint Presentation</vt:lpstr>
      <vt:lpstr>PowerPoint Presentation</vt:lpstr>
      <vt:lpstr>PowerPoint Presentation</vt:lpstr>
      <vt:lpstr>Summary of Module -1  </vt:lpstr>
      <vt:lpstr>Summary of   Module -2  </vt:lpstr>
      <vt:lpstr>Summary of  Modules -3  </vt:lpstr>
      <vt:lpstr>Implementation Details</vt:lpstr>
      <vt:lpstr>PowerPoint Presentation</vt:lpstr>
      <vt:lpstr>Testing &amp; Validation </vt:lpstr>
      <vt:lpstr>Preliminary Results &amp; Analysis </vt:lpstr>
      <vt:lpstr>Software &amp; Hardware Requirements  Specification  </vt:lpstr>
      <vt:lpstr>PowerPoint Presentation</vt:lpstr>
      <vt:lpstr>Conclusion and Future Work</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Gayani Reddy</cp:lastModifiedBy>
  <cp:revision>22</cp:revision>
  <dcterms:modified xsi:type="dcterms:W3CDTF">2025-11-08T04:10:20Z</dcterms:modified>
</cp:coreProperties>
</file>